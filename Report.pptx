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4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lexandria" pitchFamily="2" charset="-78"/>
      <p:regular r:id="rId10"/>
    </p:embeddedFont>
    <p:embeddedFont>
      <p:font typeface="Alexandria Bold" pitchFamily="2" charset="-78"/>
      <p:regular r:id="rId11"/>
      <p:bold r:id="rId12"/>
    </p:embeddedFont>
    <p:embeddedFont>
      <p:font typeface="Norwester" pitchFamily="2" charset="0"/>
      <p:regular r:id="rId13"/>
    </p:embeddedFont>
    <p:embeddedFont>
      <p:font typeface="Nunito Bold" pitchFamily="2" charset="77"/>
      <p:regular r:id="rId14"/>
      <p:bold r:id="rId15"/>
    </p:embeddedFont>
    <p:embeddedFont>
      <p:font typeface="Open Sauce Bold" pitchFamily="2" charset="77"/>
      <p:regular r:id="rId16"/>
      <p:bold r:id="rId17"/>
    </p:embeddedFont>
    <p:embeddedFont>
      <p:font typeface="Poppins Bold" pitchFamily="2" charset="77"/>
      <p:regular r:id="rId18"/>
      <p:bold r:id="rId19"/>
    </p:embeddedFont>
    <p:embeddedFont>
      <p:font typeface="Quicksand" pitchFamily="2" charset="77"/>
      <p:regular r:id="rId20"/>
    </p:embeddedFont>
    <p:embeddedFont>
      <p:font typeface="Quicksand Bold" pitchFamily="2" charset="77"/>
      <p:regular r:id="rId21"/>
      <p:bold r:id="rId22"/>
    </p:embeddedFont>
    <p:embeddedFont>
      <p:font typeface="Quicksand Light" pitchFamily="2" charset="77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6" autoAdjust="0"/>
    <p:restoredTop sz="94578" autoAdjust="0"/>
  </p:normalViewPr>
  <p:slideViewPr>
    <p:cSldViewPr>
      <p:cViewPr varScale="1">
        <p:scale>
          <a:sx n="45" d="100"/>
          <a:sy n="45" d="100"/>
        </p:scale>
        <p:origin x="224" y="16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8.png"/><Relationship Id="rId5" Type="http://schemas.openxmlformats.org/officeDocument/2006/relationships/image" Target="../media/image13.jpe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8.png"/><Relationship Id="rId5" Type="http://schemas.openxmlformats.org/officeDocument/2006/relationships/image" Target="../media/image14.jpe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0712" y="208597"/>
            <a:ext cx="17858263" cy="9826945"/>
            <a:chOff x="0" y="-55857"/>
            <a:chExt cx="23811017" cy="131025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87533" cy="1037614"/>
            </a:xfrm>
            <a:custGeom>
              <a:avLst/>
              <a:gdLst/>
              <a:ahLst/>
              <a:cxnLst/>
              <a:rect l="l" t="t" r="r" b="b"/>
              <a:pathLst>
                <a:path w="3087533" h="1037614">
                  <a:moveTo>
                    <a:pt x="0" y="0"/>
                  </a:moveTo>
                  <a:lnTo>
                    <a:pt x="3087533" y="0"/>
                  </a:lnTo>
                  <a:lnTo>
                    <a:pt x="3087533" y="1037614"/>
                  </a:lnTo>
                  <a:lnTo>
                    <a:pt x="0" y="1037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Freeform 4"/>
            <p:cNvSpPr/>
            <p:nvPr/>
          </p:nvSpPr>
          <p:spPr>
            <a:xfrm>
              <a:off x="15807015" y="3088463"/>
              <a:ext cx="6871102" cy="6871102"/>
            </a:xfrm>
            <a:custGeom>
              <a:avLst/>
              <a:gdLst/>
              <a:ahLst/>
              <a:cxnLst/>
              <a:rect l="l" t="t" r="r" b="b"/>
              <a:pathLst>
                <a:path w="6871102" h="6871102">
                  <a:moveTo>
                    <a:pt x="0" y="0"/>
                  </a:moveTo>
                  <a:lnTo>
                    <a:pt x="6871102" y="0"/>
                  </a:lnTo>
                  <a:lnTo>
                    <a:pt x="6871102" y="6871101"/>
                  </a:lnTo>
                  <a:lnTo>
                    <a:pt x="0" y="687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7119264" y="-55857"/>
              <a:ext cx="6639100" cy="1093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359"/>
                </a:lnSpc>
                <a:spcBef>
                  <a:spcPct val="0"/>
                </a:spcBef>
              </a:pPr>
              <a:r>
                <a:rPr lang="en-US" sz="2399" spc="7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Mobile Application Development</a:t>
              </a:r>
            </a:p>
            <a:p>
              <a:pPr algn="r">
                <a:lnSpc>
                  <a:spcPts val="3359"/>
                </a:lnSpc>
                <a:spcBef>
                  <a:spcPct val="0"/>
                </a:spcBef>
              </a:pPr>
              <a:r>
                <a:rPr lang="en-US" sz="2399" spc="7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A.Y. 2025-2026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37317" y="5098206"/>
              <a:ext cx="10017522" cy="26230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518"/>
                </a:lnSpc>
                <a:spcBef>
                  <a:spcPct val="0"/>
                </a:spcBef>
              </a:pPr>
              <a:r>
                <a:rPr lang="en-US" sz="11798" b="1" spc="35">
                  <a:solidFill>
                    <a:srgbClr val="000000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Nutri</a:t>
              </a:r>
              <a:r>
                <a:rPr lang="en-US" sz="11798" b="1" spc="35">
                  <a:solidFill>
                    <a:srgbClr val="5B9C20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Lens</a:t>
              </a:r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1194753" y="8340276"/>
              <a:ext cx="63500" cy="977439"/>
              <a:chOff x="0" y="0"/>
              <a:chExt cx="29822" cy="459037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9822" cy="459021"/>
              </a:xfrm>
              <a:custGeom>
                <a:avLst/>
                <a:gdLst/>
                <a:ahLst/>
                <a:cxnLst/>
                <a:rect l="l" t="t" r="r" b="b"/>
                <a:pathLst>
                  <a:path w="29822" h="459021">
                    <a:moveTo>
                      <a:pt x="0" y="0"/>
                    </a:moveTo>
                    <a:lnTo>
                      <a:pt x="29822" y="0"/>
                    </a:lnTo>
                    <a:lnTo>
                      <a:pt x="29822" y="459021"/>
                    </a:lnTo>
                    <a:lnTo>
                      <a:pt x="0" y="459021"/>
                    </a:lnTo>
                    <a:close/>
                  </a:path>
                </a:pathLst>
              </a:custGeom>
              <a:solidFill>
                <a:srgbClr val="ACCC53"/>
              </a:solidFill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055053" y="8517210"/>
              <a:ext cx="14041241" cy="5663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69"/>
                </a:lnSpc>
                <a:spcBef>
                  <a:spcPct val="0"/>
                </a:spcBef>
              </a:pPr>
              <a:r>
                <a:rPr lang="it-IT" sz="2550" spc="7" dirty="0" err="1">
                  <a:solidFill>
                    <a:srgbClr val="000000"/>
                  </a:solidFill>
                  <a:latin typeface="Quicksand"/>
                </a:rPr>
                <a:t>Scan</a:t>
              </a:r>
              <a:r>
                <a:rPr lang="it-IT" sz="2550" spc="7" dirty="0">
                  <a:solidFill>
                    <a:srgbClr val="000000"/>
                  </a:solidFill>
                  <a:latin typeface="Quicksand"/>
                </a:rPr>
                <a:t>, </a:t>
              </a:r>
              <a:r>
                <a:rPr lang="it-IT" sz="2550" spc="7" dirty="0" err="1">
                  <a:solidFill>
                    <a:srgbClr val="000000"/>
                  </a:solidFill>
                  <a:latin typeface="Quicksand"/>
                </a:rPr>
                <a:t>explore</a:t>
              </a:r>
              <a:r>
                <a:rPr lang="it-IT" sz="2550" spc="7" dirty="0">
                  <a:solidFill>
                    <a:srgbClr val="000000"/>
                  </a:solidFill>
                  <a:latin typeface="Quicksand"/>
                </a:rPr>
                <a:t>, decide — </a:t>
              </a:r>
              <a:r>
                <a:rPr lang="it-IT" sz="2550" spc="7" dirty="0" err="1">
                  <a:solidFill>
                    <a:srgbClr val="000000"/>
                  </a:solidFill>
                  <a:latin typeface="Quicksand"/>
                </a:rPr>
                <a:t>every</a:t>
              </a:r>
              <a:r>
                <a:rPr lang="it-IT" sz="2550" spc="7" dirty="0">
                  <a:solidFill>
                    <a:srgbClr val="000000"/>
                  </a:solidFill>
                  <a:latin typeface="Quicksand"/>
                </a:rPr>
                <a:t> product, the </a:t>
              </a:r>
              <a:r>
                <a:rPr lang="it-IT" sz="2550" spc="7" dirty="0" err="1">
                  <a:solidFill>
                    <a:srgbClr val="000000"/>
                  </a:solidFill>
                  <a:latin typeface="Quicksand"/>
                </a:rPr>
                <a:t>right</a:t>
              </a:r>
              <a:r>
                <a:rPr lang="it-IT" sz="2550" spc="7" dirty="0">
                  <a:solidFill>
                    <a:srgbClr val="000000"/>
                  </a:solidFill>
                  <a:latin typeface="Quicksand"/>
                </a:rPr>
                <a:t> </a:t>
              </a:r>
              <a:r>
                <a:rPr lang="it-IT" sz="2550" spc="7" dirty="0" err="1">
                  <a:solidFill>
                    <a:srgbClr val="000000"/>
                  </a:solidFill>
                  <a:latin typeface="Quicksand"/>
                </a:rPr>
                <a:t>choice</a:t>
              </a:r>
              <a:r>
                <a:rPr lang="it-IT" sz="2550" spc="7" dirty="0">
                  <a:solidFill>
                    <a:srgbClr val="000000"/>
                  </a:solidFill>
                  <a:latin typeface="Quicksand"/>
                </a:rPr>
                <a:t> for </a:t>
              </a:r>
              <a:r>
                <a:rPr lang="it-IT" sz="2550" spc="7" dirty="0" err="1">
                  <a:solidFill>
                    <a:srgbClr val="000000"/>
                  </a:solidFill>
                  <a:latin typeface="Quicksand"/>
                </a:rPr>
                <a:t>you</a:t>
              </a:r>
              <a:r>
                <a:rPr lang="en-US" sz="2550" spc="7" dirty="0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473002" y="11953264"/>
              <a:ext cx="9338015" cy="1093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359"/>
                </a:lnSpc>
              </a:pPr>
              <a:endParaRPr/>
            </a:p>
            <a:p>
              <a:pPr algn="r">
                <a:lnSpc>
                  <a:spcPts val="3359"/>
                </a:lnSpc>
              </a:pPr>
              <a:r>
                <a:rPr lang="en-US" sz="2399" spc="7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Valentina Debbia - 74280A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23925" y="2464066"/>
            <a:ext cx="8812369" cy="5049059"/>
          </a:xfrm>
          <a:custGeom>
            <a:avLst/>
            <a:gdLst/>
            <a:ahLst/>
            <a:cxnLst/>
            <a:rect l="l" t="t" r="r" b="b"/>
            <a:pathLst>
              <a:path w="8812369" h="5049059">
                <a:moveTo>
                  <a:pt x="0" y="0"/>
                </a:moveTo>
                <a:lnTo>
                  <a:pt x="8812369" y="0"/>
                </a:lnTo>
                <a:lnTo>
                  <a:pt x="8812369" y="5049058"/>
                </a:lnTo>
                <a:lnTo>
                  <a:pt x="0" y="50490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1736184" y="633649"/>
            <a:ext cx="10421259" cy="952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b="1" spc="16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THE PROBLEM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047556" y="2057721"/>
            <a:ext cx="5999578" cy="2506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05"/>
              </a:lnSpc>
              <a:spcBef>
                <a:spcPct val="0"/>
              </a:spcBef>
            </a:pPr>
            <a:r>
              <a:rPr lang="it-IT" sz="2361" spc="7" dirty="0" err="1">
                <a:solidFill>
                  <a:srgbClr val="000000"/>
                </a:solidFill>
                <a:latin typeface="Quicksand"/>
              </a:rPr>
              <a:t>It's</a:t>
            </a:r>
            <a:r>
              <a:rPr lang="it-IT" sz="2361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361" spc="7" dirty="0" err="1">
                <a:solidFill>
                  <a:srgbClr val="000000"/>
                </a:solidFill>
                <a:latin typeface="Quicksand"/>
              </a:rPr>
              <a:t>not</a:t>
            </a:r>
            <a:r>
              <a:rPr lang="it-IT" sz="2361" spc="7" dirty="0">
                <a:solidFill>
                  <a:srgbClr val="000000"/>
                </a:solidFill>
                <a:latin typeface="Quicksand"/>
              </a:rPr>
              <a:t> an </a:t>
            </a:r>
            <a:r>
              <a:rPr lang="it-IT" sz="2361" spc="7" dirty="0" err="1">
                <a:solidFill>
                  <a:srgbClr val="000000"/>
                </a:solidFill>
                <a:latin typeface="Quicksand"/>
              </a:rPr>
              <a:t>education</a:t>
            </a:r>
            <a:r>
              <a:rPr lang="it-IT" sz="2361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361" spc="7" dirty="0" err="1">
                <a:solidFill>
                  <a:srgbClr val="000000"/>
                </a:solidFill>
                <a:latin typeface="Quicksand"/>
              </a:rPr>
              <a:t>issue</a:t>
            </a:r>
            <a:r>
              <a:rPr lang="it-IT" sz="2361" spc="7" dirty="0">
                <a:solidFill>
                  <a:srgbClr val="000000"/>
                </a:solidFill>
                <a:latin typeface="Quicksand"/>
              </a:rPr>
              <a:t>, </a:t>
            </a:r>
            <a:r>
              <a:rPr lang="it-IT" sz="2361" spc="7" dirty="0" err="1">
                <a:solidFill>
                  <a:srgbClr val="000000"/>
                </a:solidFill>
                <a:latin typeface="Quicksand"/>
              </a:rPr>
              <a:t>it's</a:t>
            </a:r>
            <a:r>
              <a:rPr lang="it-IT" sz="2361" spc="7" dirty="0">
                <a:solidFill>
                  <a:srgbClr val="000000"/>
                </a:solidFill>
                <a:latin typeface="Quicksand"/>
              </a:rPr>
              <a:t> a design </a:t>
            </a:r>
            <a:r>
              <a:rPr lang="it-IT" sz="2361" spc="7" dirty="0" err="1">
                <a:solidFill>
                  <a:srgbClr val="000000"/>
                </a:solidFill>
                <a:latin typeface="Quicksand"/>
              </a:rPr>
              <a:t>problem</a:t>
            </a:r>
            <a:r>
              <a:rPr lang="it-IT" sz="2361" spc="7" dirty="0">
                <a:solidFill>
                  <a:srgbClr val="000000"/>
                </a:solidFill>
                <a:latin typeface="Quicksand"/>
              </a:rPr>
              <a:t>. Labels are </a:t>
            </a:r>
            <a:r>
              <a:rPr lang="it-IT" sz="2361" spc="7" dirty="0" err="1">
                <a:solidFill>
                  <a:srgbClr val="000000"/>
                </a:solidFill>
                <a:latin typeface="Quicksand"/>
              </a:rPr>
              <a:t>packed</a:t>
            </a:r>
            <a:r>
              <a:rPr lang="it-IT" sz="2361" spc="7" dirty="0">
                <a:solidFill>
                  <a:srgbClr val="000000"/>
                </a:solidFill>
                <a:latin typeface="Quicksand"/>
              </a:rPr>
              <a:t> with technical </a:t>
            </a:r>
            <a:r>
              <a:rPr lang="it-IT" sz="2361" spc="7" dirty="0" err="1">
                <a:solidFill>
                  <a:srgbClr val="000000"/>
                </a:solidFill>
                <a:latin typeface="Quicksand"/>
              </a:rPr>
              <a:t>jargon</a:t>
            </a:r>
            <a:r>
              <a:rPr lang="it-IT" sz="2361" spc="7" dirty="0">
                <a:solidFill>
                  <a:srgbClr val="000000"/>
                </a:solidFill>
                <a:latin typeface="Quicksand"/>
              </a:rPr>
              <a:t>, printed in </a:t>
            </a:r>
            <a:r>
              <a:rPr lang="it-IT" sz="2361" spc="7" dirty="0" err="1">
                <a:solidFill>
                  <a:srgbClr val="000000"/>
                </a:solidFill>
                <a:latin typeface="Quicksand"/>
              </a:rPr>
              <a:t>tiny</a:t>
            </a:r>
            <a:r>
              <a:rPr lang="it-IT" sz="2361" spc="7" dirty="0">
                <a:solidFill>
                  <a:srgbClr val="000000"/>
                </a:solidFill>
                <a:latin typeface="Quicksand"/>
              </a:rPr>
              <a:t> font, and </a:t>
            </a:r>
            <a:r>
              <a:rPr lang="it-IT" sz="2361" spc="7" dirty="0" err="1">
                <a:solidFill>
                  <a:srgbClr val="000000"/>
                </a:solidFill>
                <a:latin typeface="Quicksand"/>
              </a:rPr>
              <a:t>built</a:t>
            </a:r>
            <a:r>
              <a:rPr lang="it-IT" sz="2361" spc="7" dirty="0">
                <a:solidFill>
                  <a:srgbClr val="000000"/>
                </a:solidFill>
                <a:latin typeface="Quicksand"/>
              </a:rPr>
              <a:t> for compliance, </a:t>
            </a:r>
            <a:r>
              <a:rPr lang="it-IT" sz="2361" spc="7" dirty="0" err="1">
                <a:solidFill>
                  <a:srgbClr val="000000"/>
                </a:solidFill>
                <a:latin typeface="Quicksand"/>
              </a:rPr>
              <a:t>not</a:t>
            </a:r>
            <a:r>
              <a:rPr lang="it-IT" sz="2361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361" spc="7" dirty="0" err="1">
                <a:solidFill>
                  <a:srgbClr val="000000"/>
                </a:solidFill>
                <a:latin typeface="Quicksand"/>
              </a:rPr>
              <a:t>communication</a:t>
            </a:r>
            <a:r>
              <a:rPr lang="it-IT" sz="2361" spc="7" dirty="0">
                <a:solidFill>
                  <a:srgbClr val="000000"/>
                </a:solidFill>
                <a:latin typeface="Quicksand"/>
              </a:rPr>
              <a:t>.</a:t>
            </a:r>
            <a:endParaRPr lang="en-US" sz="2361" spc="7" dirty="0">
              <a:solidFill>
                <a:srgbClr val="000000"/>
              </a:solidFill>
              <a:latin typeface="Quicksand"/>
              <a:sym typeface="Quicksand"/>
            </a:endParaRPr>
          </a:p>
          <a:p>
            <a:pPr algn="just">
              <a:lnSpc>
                <a:spcPts val="3305"/>
              </a:lnSpc>
              <a:spcBef>
                <a:spcPct val="0"/>
              </a:spcBef>
            </a:pPr>
            <a:endParaRPr lang="en-US" sz="2361" spc="7" dirty="0">
              <a:solidFill>
                <a:srgbClr val="000000"/>
              </a:solidFill>
              <a:latin typeface="Quicksand"/>
              <a:sym typeface="Quicksand"/>
            </a:endParaRPr>
          </a:p>
          <a:p>
            <a:pPr algn="just">
              <a:lnSpc>
                <a:spcPts val="3305"/>
              </a:lnSpc>
              <a:spcBef>
                <a:spcPct val="0"/>
              </a:spcBef>
            </a:pPr>
            <a:endParaRPr lang="en-US" sz="2361" spc="7" dirty="0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187367" y="4305300"/>
            <a:ext cx="5889833" cy="4206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25"/>
              </a:lnSpc>
              <a:spcBef>
                <a:spcPct val="0"/>
              </a:spcBef>
            </a:pPr>
            <a:r>
              <a:rPr lang="en-US" sz="2900" dirty="0">
                <a:solidFill>
                  <a:srgbClr val="41691E"/>
                </a:solidFill>
                <a:latin typeface="Norwester"/>
                <a:ea typeface="Norwester"/>
                <a:cs typeface="Norwester"/>
                <a:sym typeface="Norwester"/>
              </a:rPr>
              <a:t>d</a:t>
            </a:r>
            <a:r>
              <a:rPr lang="en-US" sz="2900" u="none" strike="noStrike" dirty="0">
                <a:solidFill>
                  <a:srgbClr val="41691E"/>
                </a:solidFill>
                <a:latin typeface="Norwester"/>
                <a:ea typeface="Norwester"/>
                <a:cs typeface="Norwester"/>
                <a:sym typeface="Norwester"/>
              </a:rPr>
              <a:t>o not understand food labels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1290953" y="5567411"/>
            <a:ext cx="5512786" cy="2173177"/>
            <a:chOff x="0" y="0"/>
            <a:chExt cx="7432219" cy="29298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32244" cy="2929765"/>
            </a:xfrm>
            <a:custGeom>
              <a:avLst/>
              <a:gdLst/>
              <a:ahLst/>
              <a:cxnLst/>
              <a:rect l="l" t="t" r="r" b="b"/>
              <a:pathLst>
                <a:path w="7432244" h="2929765">
                  <a:moveTo>
                    <a:pt x="0" y="294229"/>
                  </a:moveTo>
                  <a:cubicBezTo>
                    <a:pt x="0" y="131683"/>
                    <a:pt x="185289" y="0"/>
                    <a:pt x="414002" y="0"/>
                  </a:cubicBezTo>
                  <a:lnTo>
                    <a:pt x="7018248" y="0"/>
                  </a:lnTo>
                  <a:cubicBezTo>
                    <a:pt x="7246961" y="0"/>
                    <a:pt x="7432244" y="131683"/>
                    <a:pt x="7432244" y="294229"/>
                  </a:cubicBezTo>
                  <a:lnTo>
                    <a:pt x="7432244" y="2635536"/>
                  </a:lnTo>
                  <a:cubicBezTo>
                    <a:pt x="7432244" y="2798082"/>
                    <a:pt x="7246961" y="2929765"/>
                    <a:pt x="7018248" y="2929765"/>
                  </a:cubicBezTo>
                  <a:lnTo>
                    <a:pt x="414002" y="2929765"/>
                  </a:lnTo>
                  <a:cubicBezTo>
                    <a:pt x="185289" y="2929882"/>
                    <a:pt x="0" y="2798082"/>
                    <a:pt x="0" y="2635536"/>
                  </a:cubicBezTo>
                  <a:lnTo>
                    <a:pt x="0" y="294229"/>
                  </a:lnTo>
                  <a:close/>
                </a:path>
              </a:pathLst>
            </a:custGeom>
            <a:solidFill>
              <a:srgbClr val="D8F4B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613428" y="5781675"/>
            <a:ext cx="4750174" cy="1708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it-IT" sz="2399" spc="7" dirty="0">
                <a:solidFill>
                  <a:srgbClr val="000000"/>
                </a:solidFill>
                <a:latin typeface="Quicksand"/>
              </a:rPr>
              <a:t>For </a:t>
            </a:r>
            <a:r>
              <a:rPr lang="it-IT" sz="2399" spc="7" dirty="0" err="1">
                <a:solidFill>
                  <a:srgbClr val="000000"/>
                </a:solidFill>
                <a:latin typeface="Quicksand"/>
              </a:rPr>
              <a:t>those</a:t>
            </a:r>
            <a:r>
              <a:rPr lang="it-IT" sz="2399" spc="7" dirty="0">
                <a:solidFill>
                  <a:srgbClr val="000000"/>
                </a:solidFill>
                <a:latin typeface="Quicksand"/>
              </a:rPr>
              <a:t> with </a:t>
            </a:r>
            <a:r>
              <a:rPr lang="it-IT" sz="2399" b="1" spc="7" dirty="0" err="1">
                <a:solidFill>
                  <a:srgbClr val="41691E"/>
                </a:solidFill>
                <a:latin typeface="Quicksand Bold"/>
              </a:rPr>
              <a:t>allergies</a:t>
            </a:r>
            <a:r>
              <a:rPr lang="it-IT" sz="2399" spc="7" dirty="0">
                <a:solidFill>
                  <a:srgbClr val="000000"/>
                </a:solidFill>
                <a:latin typeface="Quicksand"/>
              </a:rPr>
              <a:t>, </a:t>
            </a:r>
            <a:r>
              <a:rPr lang="it-IT" sz="2399" b="1" spc="7" dirty="0" err="1">
                <a:solidFill>
                  <a:srgbClr val="41691E"/>
                </a:solidFill>
                <a:latin typeface="Quicksand Bold"/>
              </a:rPr>
              <a:t>intolerances</a:t>
            </a:r>
            <a:r>
              <a:rPr lang="it-IT" sz="2399" spc="7" dirty="0">
                <a:solidFill>
                  <a:srgbClr val="000000"/>
                </a:solidFill>
                <a:latin typeface="Quicksand"/>
              </a:rPr>
              <a:t>, or </a:t>
            </a:r>
            <a:r>
              <a:rPr lang="it-IT" sz="2399" b="1" spc="7" dirty="0" err="1">
                <a:solidFill>
                  <a:srgbClr val="41691E"/>
                </a:solidFill>
                <a:latin typeface="Quicksand Bold"/>
              </a:rPr>
              <a:t>specific</a:t>
            </a:r>
            <a:r>
              <a:rPr lang="it-IT" sz="2399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399" b="1" spc="7" dirty="0" err="1">
                <a:solidFill>
                  <a:srgbClr val="41691E"/>
                </a:solidFill>
                <a:latin typeface="Quicksand Bold"/>
              </a:rPr>
              <a:t>dietary</a:t>
            </a:r>
            <a:r>
              <a:rPr lang="it-IT" sz="2399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399" spc="7" dirty="0" err="1">
                <a:solidFill>
                  <a:srgbClr val="000000"/>
                </a:solidFill>
                <a:latin typeface="Quicksand"/>
              </a:rPr>
              <a:t>needs</a:t>
            </a:r>
            <a:r>
              <a:rPr lang="it-IT" sz="2399" spc="7" dirty="0">
                <a:solidFill>
                  <a:srgbClr val="000000"/>
                </a:solidFill>
                <a:latin typeface="Quicksand"/>
              </a:rPr>
              <a:t>, </a:t>
            </a:r>
            <a:r>
              <a:rPr lang="it-IT" sz="2399" spc="7" dirty="0" err="1">
                <a:solidFill>
                  <a:srgbClr val="000000"/>
                </a:solidFill>
                <a:latin typeface="Quicksand"/>
              </a:rPr>
              <a:t>every</a:t>
            </a:r>
            <a:r>
              <a:rPr lang="it-IT" sz="2399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399" spc="7" dirty="0" err="1">
                <a:solidFill>
                  <a:srgbClr val="000000"/>
                </a:solidFill>
                <a:latin typeface="Quicksand"/>
              </a:rPr>
              <a:t>wrong</a:t>
            </a:r>
            <a:r>
              <a:rPr lang="it-IT" sz="2399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399" spc="7" dirty="0" err="1">
                <a:solidFill>
                  <a:srgbClr val="000000"/>
                </a:solidFill>
                <a:latin typeface="Quicksand"/>
              </a:rPr>
              <a:t>purchase</a:t>
            </a:r>
            <a:r>
              <a:rPr lang="it-IT" sz="2399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399" spc="7" dirty="0" err="1">
                <a:solidFill>
                  <a:srgbClr val="000000"/>
                </a:solidFill>
                <a:latin typeface="Quicksand"/>
              </a:rPr>
              <a:t>is</a:t>
            </a:r>
            <a:r>
              <a:rPr lang="it-IT" sz="2399" spc="7" dirty="0">
                <a:solidFill>
                  <a:srgbClr val="000000"/>
                </a:solidFill>
                <a:latin typeface="Quicksand"/>
              </a:rPr>
              <a:t> a </a:t>
            </a:r>
            <a:r>
              <a:rPr lang="it-IT" sz="2399" spc="7" dirty="0" err="1">
                <a:solidFill>
                  <a:srgbClr val="000000"/>
                </a:solidFill>
                <a:latin typeface="Quicksand"/>
              </a:rPr>
              <a:t>potential</a:t>
            </a:r>
            <a:r>
              <a:rPr lang="it-IT" sz="2399" spc="7" dirty="0">
                <a:solidFill>
                  <a:srgbClr val="000000"/>
                </a:solidFill>
                <a:latin typeface="Quicksand"/>
              </a:rPr>
              <a:t> health hazard</a:t>
            </a:r>
            <a:r>
              <a:rPr lang="en-US" sz="2399" spc="7" dirty="0">
                <a:solidFill>
                  <a:srgbClr val="000000"/>
                </a:solidFill>
                <a:latin typeface="Quicksand"/>
                <a:sym typeface="Quicksand"/>
              </a:rPr>
              <a:t>.</a:t>
            </a:r>
          </a:p>
        </p:txBody>
      </p:sp>
      <p:sp>
        <p:nvSpPr>
          <p:cNvPr id="9" name="Freeform 9"/>
          <p:cNvSpPr/>
          <p:nvPr/>
        </p:nvSpPr>
        <p:spPr>
          <a:xfrm rot="5400000">
            <a:off x="13629870" y="4264776"/>
            <a:ext cx="834951" cy="763600"/>
          </a:xfrm>
          <a:custGeom>
            <a:avLst/>
            <a:gdLst/>
            <a:ahLst/>
            <a:cxnLst/>
            <a:rect l="l" t="t" r="r" b="b"/>
            <a:pathLst>
              <a:path w="834951" h="763600">
                <a:moveTo>
                  <a:pt x="0" y="0"/>
                </a:moveTo>
                <a:lnTo>
                  <a:pt x="834951" y="0"/>
                </a:lnTo>
                <a:lnTo>
                  <a:pt x="834951" y="763601"/>
                </a:lnTo>
                <a:lnTo>
                  <a:pt x="0" y="7636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>
            <a:off x="17047135" y="159928"/>
            <a:ext cx="984896" cy="984896"/>
          </a:xfrm>
          <a:custGeom>
            <a:avLst/>
            <a:gdLst/>
            <a:ahLst/>
            <a:cxnLst/>
            <a:rect l="l" t="t" r="r" b="b"/>
            <a:pathLst>
              <a:path w="984896" h="984896">
                <a:moveTo>
                  <a:pt x="0" y="0"/>
                </a:moveTo>
                <a:lnTo>
                  <a:pt x="984896" y="0"/>
                </a:lnTo>
                <a:lnTo>
                  <a:pt x="984896" y="984896"/>
                </a:lnTo>
                <a:lnTo>
                  <a:pt x="0" y="9848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TextBox 11"/>
          <p:cNvSpPr txBox="1"/>
          <p:nvPr/>
        </p:nvSpPr>
        <p:spPr>
          <a:xfrm>
            <a:off x="2187367" y="3543300"/>
            <a:ext cx="5889833" cy="5373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624"/>
              </a:lnSpc>
              <a:spcBef>
                <a:spcPct val="0"/>
              </a:spcBef>
            </a:pPr>
            <a:r>
              <a:rPr lang="en-US" sz="3699" dirty="0">
                <a:solidFill>
                  <a:srgbClr val="41691E"/>
                </a:solidFill>
                <a:latin typeface="Norwester"/>
                <a:ea typeface="Norwester"/>
                <a:cs typeface="Norwester"/>
                <a:sym typeface="Norwester"/>
              </a:rPr>
              <a:t>6</a:t>
            </a:r>
            <a:r>
              <a:rPr lang="en-US" sz="3699" u="none" strike="noStrike" dirty="0">
                <a:solidFill>
                  <a:srgbClr val="41691E"/>
                </a:solidFill>
                <a:latin typeface="Norwester"/>
                <a:ea typeface="Norwester"/>
                <a:cs typeface="Norwester"/>
                <a:sym typeface="Norwester"/>
              </a:rPr>
              <a:t> </a:t>
            </a:r>
            <a:r>
              <a:rPr lang="en-US" sz="3699" dirty="0">
                <a:solidFill>
                  <a:srgbClr val="41691E"/>
                </a:solidFill>
                <a:latin typeface="Norwester"/>
                <a:ea typeface="Norwester"/>
                <a:cs typeface="Norwester"/>
                <a:sym typeface="Norwester"/>
              </a:rPr>
              <a:t>OUT OF </a:t>
            </a:r>
            <a:r>
              <a:rPr lang="en-US" sz="3699" u="none" strike="noStrike" dirty="0">
                <a:solidFill>
                  <a:srgbClr val="41691E"/>
                </a:solidFill>
                <a:latin typeface="Norwester"/>
                <a:ea typeface="Norwester"/>
                <a:cs typeface="Norwester"/>
                <a:sym typeface="Norwester"/>
              </a:rPr>
              <a:t>10 PEOPLE WORLWIDE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126962" y="5080143"/>
            <a:ext cx="1284685" cy="2246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1905"/>
              </a:lnSpc>
              <a:spcBef>
                <a:spcPct val="0"/>
              </a:spcBef>
            </a:pPr>
            <a:r>
              <a:rPr lang="en-US" sz="1361" u="none" strike="noStrike" spc="4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Nielsen, 2011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047135" y="159928"/>
            <a:ext cx="984896" cy="984896"/>
          </a:xfrm>
          <a:custGeom>
            <a:avLst/>
            <a:gdLst/>
            <a:ahLst/>
            <a:cxnLst/>
            <a:rect l="l" t="t" r="r" b="b"/>
            <a:pathLst>
              <a:path w="984896" h="984896">
                <a:moveTo>
                  <a:pt x="0" y="0"/>
                </a:moveTo>
                <a:lnTo>
                  <a:pt x="984896" y="0"/>
                </a:lnTo>
                <a:lnTo>
                  <a:pt x="984896" y="984896"/>
                </a:lnTo>
                <a:lnTo>
                  <a:pt x="0" y="9848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1480469" y="3467100"/>
            <a:ext cx="5298256" cy="3515262"/>
            <a:chOff x="0" y="0"/>
            <a:chExt cx="6503725" cy="45988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503750" cy="4598755"/>
            </a:xfrm>
            <a:custGeom>
              <a:avLst/>
              <a:gdLst/>
              <a:ahLst/>
              <a:cxnLst/>
              <a:rect l="l" t="t" r="r" b="b"/>
              <a:pathLst>
                <a:path w="6503750" h="4598755">
                  <a:moveTo>
                    <a:pt x="0" y="461841"/>
                  </a:moveTo>
                  <a:cubicBezTo>
                    <a:pt x="0" y="206699"/>
                    <a:pt x="162141" y="0"/>
                    <a:pt x="362281" y="0"/>
                  </a:cubicBezTo>
                  <a:lnTo>
                    <a:pt x="6141471" y="0"/>
                  </a:lnTo>
                  <a:cubicBezTo>
                    <a:pt x="6341611" y="0"/>
                    <a:pt x="6503750" y="206699"/>
                    <a:pt x="6503750" y="461841"/>
                  </a:cubicBezTo>
                  <a:lnTo>
                    <a:pt x="6503750" y="4136915"/>
                  </a:lnTo>
                  <a:cubicBezTo>
                    <a:pt x="6503750" y="4392056"/>
                    <a:pt x="6341611" y="4598755"/>
                    <a:pt x="6141471" y="4598755"/>
                  </a:cubicBezTo>
                  <a:lnTo>
                    <a:pt x="362281" y="4598755"/>
                  </a:lnTo>
                  <a:cubicBezTo>
                    <a:pt x="162141" y="4598909"/>
                    <a:pt x="0" y="4392056"/>
                    <a:pt x="0" y="4136915"/>
                  </a:cubicBezTo>
                  <a:lnTo>
                    <a:pt x="0" y="461841"/>
                  </a:lnTo>
                  <a:close/>
                </a:path>
              </a:pathLst>
            </a:custGeom>
            <a:solidFill>
              <a:srgbClr val="D8F4B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36184" y="653651"/>
            <a:ext cx="10421259" cy="902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 spc="15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THE SOLUTION</a:t>
            </a:r>
          </a:p>
        </p:txBody>
      </p:sp>
      <p:pic>
        <p:nvPicPr>
          <p:cNvPr id="6" name="Picture 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37620" t="5601" r="37666"/>
          <a:stretch>
            <a:fillRect/>
          </a:stretch>
        </p:blipFill>
        <p:spPr>
          <a:xfrm>
            <a:off x="7513238" y="2364479"/>
            <a:ext cx="3088721" cy="6636610"/>
          </a:xfrm>
          <a:prstGeom prst="roundRect">
            <a:avLst>
              <a:gd name="adj" fmla="val 13689"/>
            </a:avLst>
          </a:prstGeom>
          <a:ln>
            <a:noFill/>
          </a:ln>
          <a:effectLst>
            <a:innerShdw blurRad="114300" dist="50800">
              <a:srgbClr val="000000">
                <a:alpha val="0"/>
              </a:srgbClr>
            </a:innerShdw>
          </a:effectLst>
        </p:spPr>
      </p:pic>
      <p:sp>
        <p:nvSpPr>
          <p:cNvPr id="7" name="Freeform 7"/>
          <p:cNvSpPr/>
          <p:nvPr/>
        </p:nvSpPr>
        <p:spPr>
          <a:xfrm>
            <a:off x="7380935" y="2119914"/>
            <a:ext cx="3353328" cy="7284944"/>
          </a:xfrm>
          <a:custGeom>
            <a:avLst/>
            <a:gdLst/>
            <a:ahLst/>
            <a:cxnLst/>
            <a:rect l="l" t="t" r="r" b="b"/>
            <a:pathLst>
              <a:path w="3353328" h="7284944">
                <a:moveTo>
                  <a:pt x="0" y="0"/>
                </a:moveTo>
                <a:lnTo>
                  <a:pt x="3353328" y="0"/>
                </a:lnTo>
                <a:lnTo>
                  <a:pt x="3353328" y="7284944"/>
                </a:lnTo>
                <a:lnTo>
                  <a:pt x="0" y="72849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9495" r="-129587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3752122" y="1847021"/>
            <a:ext cx="14383478" cy="400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59"/>
              </a:lnSpc>
              <a:spcBef>
                <a:spcPct val="0"/>
              </a:spcBef>
            </a:pPr>
            <a:r>
              <a:rPr lang="en-US" sz="2400" spc="7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- a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n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iOS app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that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transforms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your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smartphone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into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an intelligent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nutrition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assistant</a:t>
            </a:r>
            <a:endParaRPr lang="en-US" sz="2400" spc="7" dirty="0">
              <a:solidFill>
                <a:srgbClr val="000000"/>
              </a:solidFill>
              <a:latin typeface="Quicksand"/>
              <a:sym typeface="Quicksan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085456" y="1797664"/>
            <a:ext cx="1678558" cy="412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spc="7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Nutri</a:t>
            </a:r>
            <a:r>
              <a:rPr lang="en-US" sz="2499" b="1" spc="7">
                <a:solidFill>
                  <a:srgbClr val="4169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Lens</a:t>
            </a:r>
            <a:r>
              <a:rPr lang="en-US" sz="2499" spc="7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99944" y="3853018"/>
            <a:ext cx="4659325" cy="25809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3359"/>
              </a:lnSpc>
              <a:spcBef>
                <a:spcPct val="0"/>
              </a:spcBef>
            </a:pPr>
            <a:r>
              <a:rPr lang="it-IT" sz="2400" spc="7" dirty="0">
                <a:solidFill>
                  <a:srgbClr val="000000"/>
                </a:solidFill>
                <a:latin typeface="Quicksand"/>
              </a:rPr>
              <a:t>By framing a product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through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the camera, the user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receives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instant </a:t>
            </a:r>
            <a:r>
              <a:rPr lang="it-IT" sz="2400" b="1" spc="7" dirty="0" err="1">
                <a:solidFill>
                  <a:srgbClr val="41691E"/>
                </a:solidFill>
                <a:latin typeface="Quicksand Bold"/>
              </a:rPr>
              <a:t>multisensory</a:t>
            </a:r>
            <a:r>
              <a:rPr lang="it-IT" sz="2400" b="1" spc="7" dirty="0">
                <a:solidFill>
                  <a:srgbClr val="41691E"/>
                </a:solidFill>
                <a:latin typeface="Quicksand Bold"/>
              </a:rPr>
              <a:t> feedback 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(color‑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coded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,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auditory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, and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haptic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)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about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its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compatibility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with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their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dietary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profile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.</a:t>
            </a:r>
            <a:endParaRPr lang="en-US" sz="2400" spc="7" dirty="0">
              <a:solidFill>
                <a:srgbClr val="000000"/>
              </a:solidFill>
              <a:latin typeface="Quicksand"/>
              <a:sym typeface="Quicksand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1336472" y="5524500"/>
            <a:ext cx="5298256" cy="3237127"/>
            <a:chOff x="0" y="0"/>
            <a:chExt cx="6503725" cy="459885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503750" cy="4598755"/>
            </a:xfrm>
            <a:custGeom>
              <a:avLst/>
              <a:gdLst/>
              <a:ahLst/>
              <a:cxnLst/>
              <a:rect l="l" t="t" r="r" b="b"/>
              <a:pathLst>
                <a:path w="6503750" h="4598755">
                  <a:moveTo>
                    <a:pt x="0" y="461841"/>
                  </a:moveTo>
                  <a:cubicBezTo>
                    <a:pt x="0" y="206699"/>
                    <a:pt x="162141" y="0"/>
                    <a:pt x="362281" y="0"/>
                  </a:cubicBezTo>
                  <a:lnTo>
                    <a:pt x="6141471" y="0"/>
                  </a:lnTo>
                  <a:cubicBezTo>
                    <a:pt x="6341611" y="0"/>
                    <a:pt x="6503750" y="206699"/>
                    <a:pt x="6503750" y="461841"/>
                  </a:cubicBezTo>
                  <a:lnTo>
                    <a:pt x="6503750" y="4136915"/>
                  </a:lnTo>
                  <a:cubicBezTo>
                    <a:pt x="6503750" y="4392056"/>
                    <a:pt x="6341611" y="4598755"/>
                    <a:pt x="6141471" y="4598755"/>
                  </a:cubicBezTo>
                  <a:lnTo>
                    <a:pt x="362281" y="4598755"/>
                  </a:lnTo>
                  <a:cubicBezTo>
                    <a:pt x="162141" y="4598909"/>
                    <a:pt x="0" y="4392056"/>
                    <a:pt x="0" y="4136915"/>
                  </a:cubicBezTo>
                  <a:lnTo>
                    <a:pt x="0" y="461841"/>
                  </a:lnTo>
                  <a:close/>
                </a:path>
              </a:pathLst>
            </a:custGeom>
            <a:solidFill>
              <a:srgbClr val="D8F4B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679058" y="6070554"/>
            <a:ext cx="4613103" cy="21449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3359"/>
              </a:lnSpc>
              <a:spcBef>
                <a:spcPct val="0"/>
              </a:spcBef>
            </a:pPr>
            <a:r>
              <a:rPr lang="it-IT" sz="2400" spc="7" dirty="0">
                <a:solidFill>
                  <a:srgbClr val="000000"/>
                </a:solidFill>
                <a:latin typeface="Quicksand"/>
              </a:rPr>
              <a:t>By long‑pressing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anywhere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on the screen, an Augmented Reality </a:t>
            </a:r>
            <a:r>
              <a:rPr lang="it-IT" sz="2400" b="1" spc="7" dirty="0">
                <a:solidFill>
                  <a:srgbClr val="41691E"/>
                </a:solidFill>
                <a:latin typeface="Quicksand Bold"/>
              </a:rPr>
              <a:t>info card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appears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and, with a single tap,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rotates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to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reveal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all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relevant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details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.</a:t>
            </a:r>
            <a:endParaRPr lang="en-US" sz="2400" spc="7" dirty="0">
              <a:solidFill>
                <a:srgbClr val="000000"/>
              </a:solidFill>
              <a:latin typeface="Quicksand"/>
              <a:sym typeface="Quicksan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119054" y="9384284"/>
            <a:ext cx="14383478" cy="320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44"/>
              </a:lnSpc>
              <a:spcBef>
                <a:spcPct val="0"/>
              </a:spcBef>
            </a:pPr>
            <a:r>
              <a:rPr lang="it-IT" sz="1960" spc="5" dirty="0">
                <a:solidFill>
                  <a:srgbClr val="6A6968"/>
                </a:solidFill>
                <a:latin typeface="Quicksand"/>
              </a:rPr>
              <a:t>At the center of the </a:t>
            </a:r>
            <a:r>
              <a:rPr lang="it-IT" sz="1960" spc="5" dirty="0" err="1">
                <a:solidFill>
                  <a:srgbClr val="6A6968"/>
                </a:solidFill>
                <a:latin typeface="Quicksand"/>
              </a:rPr>
              <a:t>entire</a:t>
            </a:r>
            <a:r>
              <a:rPr lang="it-IT" sz="1960" spc="5" dirty="0">
                <a:solidFill>
                  <a:srgbClr val="6A6968"/>
                </a:solidFill>
                <a:latin typeface="Quicksand"/>
              </a:rPr>
              <a:t> system </a:t>
            </a:r>
            <a:r>
              <a:rPr lang="it-IT" sz="1960" spc="5" dirty="0" err="1">
                <a:solidFill>
                  <a:srgbClr val="6A6968"/>
                </a:solidFill>
                <a:latin typeface="Quicksand"/>
              </a:rPr>
              <a:t>lies</a:t>
            </a:r>
            <a:r>
              <a:rPr lang="it-IT" sz="1960" spc="5" dirty="0">
                <a:solidFill>
                  <a:srgbClr val="6A6968"/>
                </a:solidFill>
                <a:latin typeface="Quicksand"/>
              </a:rPr>
              <a:t> the user </a:t>
            </a:r>
            <a:r>
              <a:rPr lang="it-IT" sz="1960" spc="5" dirty="0" err="1">
                <a:solidFill>
                  <a:srgbClr val="6A6968"/>
                </a:solidFill>
                <a:latin typeface="Quicksand"/>
              </a:rPr>
              <a:t>profile</a:t>
            </a:r>
            <a:r>
              <a:rPr lang="it-IT" sz="1960" spc="5" dirty="0">
                <a:solidFill>
                  <a:srgbClr val="6A6968"/>
                </a:solidFill>
                <a:latin typeface="Quicksand"/>
              </a:rPr>
              <a:t>: 14 EU‑</a:t>
            </a:r>
            <a:r>
              <a:rPr lang="it-IT" sz="1960" spc="5" dirty="0" err="1">
                <a:solidFill>
                  <a:srgbClr val="6A6968"/>
                </a:solidFill>
                <a:latin typeface="Quicksand"/>
              </a:rPr>
              <a:t>mandated</a:t>
            </a:r>
            <a:r>
              <a:rPr lang="it-IT" sz="1960" spc="5" dirty="0">
                <a:solidFill>
                  <a:srgbClr val="6A6968"/>
                </a:solidFill>
                <a:latin typeface="Quicksand"/>
              </a:rPr>
              <a:t> </a:t>
            </a:r>
            <a:r>
              <a:rPr lang="it-IT" sz="1960" spc="5" dirty="0" err="1">
                <a:solidFill>
                  <a:srgbClr val="6A6968"/>
                </a:solidFill>
                <a:latin typeface="Quicksand"/>
              </a:rPr>
              <a:t>allergens</a:t>
            </a:r>
            <a:r>
              <a:rPr lang="it-IT" sz="1960" spc="5" dirty="0">
                <a:solidFill>
                  <a:srgbClr val="6A6968"/>
                </a:solidFill>
                <a:latin typeface="Quicksand"/>
              </a:rPr>
              <a:t> plus 9 </a:t>
            </a:r>
            <a:r>
              <a:rPr lang="it-IT" sz="1960" spc="5" dirty="0" err="1">
                <a:solidFill>
                  <a:srgbClr val="6A6968"/>
                </a:solidFill>
                <a:latin typeface="Quicksand"/>
              </a:rPr>
              <a:t>configurable</a:t>
            </a:r>
            <a:r>
              <a:rPr lang="it-IT" sz="1960" spc="5" dirty="0">
                <a:solidFill>
                  <a:srgbClr val="6A6968"/>
                </a:solidFill>
                <a:latin typeface="Quicksand"/>
              </a:rPr>
              <a:t> </a:t>
            </a:r>
            <a:r>
              <a:rPr lang="it-IT" sz="1960" spc="5" dirty="0" err="1">
                <a:solidFill>
                  <a:srgbClr val="6A6968"/>
                </a:solidFill>
                <a:latin typeface="Quicksand"/>
              </a:rPr>
              <a:t>dietary</a:t>
            </a:r>
            <a:r>
              <a:rPr lang="it-IT" sz="1960" spc="5" dirty="0">
                <a:solidFill>
                  <a:srgbClr val="6A6968"/>
                </a:solidFill>
                <a:latin typeface="Quicksand"/>
              </a:rPr>
              <a:t> </a:t>
            </a:r>
            <a:r>
              <a:rPr lang="it-IT" sz="1960" spc="5" dirty="0" err="1">
                <a:solidFill>
                  <a:srgbClr val="6A6968"/>
                </a:solidFill>
                <a:latin typeface="Quicksand"/>
              </a:rPr>
              <a:t>requirements</a:t>
            </a:r>
            <a:r>
              <a:rPr lang="it-IT" sz="1960" spc="5" dirty="0">
                <a:solidFill>
                  <a:srgbClr val="6A6968"/>
                </a:solidFill>
                <a:latin typeface="Quicksand"/>
              </a:rPr>
              <a:t>.</a:t>
            </a:r>
            <a:endParaRPr lang="en-US" sz="1960" spc="5" dirty="0">
              <a:solidFill>
                <a:srgbClr val="6A6968"/>
              </a:solidFill>
              <a:latin typeface="Quicksand"/>
              <a:sym typeface="Quicksa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55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36184" y="653651"/>
            <a:ext cx="10421259" cy="902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 spc="15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THE POSSIBLE SCENARIOS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2810982"/>
            <a:ext cx="4805661" cy="6313005"/>
            <a:chOff x="0" y="0"/>
            <a:chExt cx="1265688" cy="16626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65688" cy="1662684"/>
            </a:xfrm>
            <a:custGeom>
              <a:avLst/>
              <a:gdLst/>
              <a:ahLst/>
              <a:cxnLst/>
              <a:rect l="l" t="t" r="r" b="b"/>
              <a:pathLst>
                <a:path w="1265688" h="1662684">
                  <a:moveTo>
                    <a:pt x="82161" y="0"/>
                  </a:moveTo>
                  <a:lnTo>
                    <a:pt x="1183527" y="0"/>
                  </a:lnTo>
                  <a:cubicBezTo>
                    <a:pt x="1228904" y="0"/>
                    <a:pt x="1265688" y="36785"/>
                    <a:pt x="1265688" y="82161"/>
                  </a:cubicBezTo>
                  <a:lnTo>
                    <a:pt x="1265688" y="1580523"/>
                  </a:lnTo>
                  <a:cubicBezTo>
                    <a:pt x="1265688" y="1602314"/>
                    <a:pt x="1257032" y="1623212"/>
                    <a:pt x="1241624" y="1638620"/>
                  </a:cubicBezTo>
                  <a:cubicBezTo>
                    <a:pt x="1226216" y="1654028"/>
                    <a:pt x="1205318" y="1662684"/>
                    <a:pt x="1183527" y="1662684"/>
                  </a:cubicBezTo>
                  <a:lnTo>
                    <a:pt x="82161" y="1662684"/>
                  </a:lnTo>
                  <a:cubicBezTo>
                    <a:pt x="36785" y="1662684"/>
                    <a:pt x="0" y="1625900"/>
                    <a:pt x="0" y="1580523"/>
                  </a:cubicBezTo>
                  <a:lnTo>
                    <a:pt x="0" y="82161"/>
                  </a:lnTo>
                  <a:cubicBezTo>
                    <a:pt x="0" y="36785"/>
                    <a:pt x="36785" y="0"/>
                    <a:pt x="82161" y="0"/>
                  </a:cubicBezTo>
                  <a:close/>
                </a:path>
              </a:pathLst>
            </a:custGeom>
            <a:solidFill>
              <a:srgbClr val="F5B3B3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1265688" cy="1757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62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424584" y="3167940"/>
            <a:ext cx="4013892" cy="455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7"/>
              </a:lnSpc>
            </a:pPr>
            <a:r>
              <a:rPr lang="en-US" sz="234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DANGER STATE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02123" y="4077526"/>
            <a:ext cx="4258815" cy="3945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04"/>
              </a:lnSpc>
            </a:pPr>
            <a:r>
              <a:rPr lang="it-IT" sz="2360" spc="7" dirty="0">
                <a:solidFill>
                  <a:srgbClr val="000000"/>
                </a:solidFill>
                <a:latin typeface="Quicksand"/>
              </a:rPr>
              <a:t>Highlights </a:t>
            </a:r>
            <a:r>
              <a:rPr lang="it-IT" sz="2360" spc="7" dirty="0" err="1">
                <a:solidFill>
                  <a:srgbClr val="000000"/>
                </a:solidFill>
                <a:latin typeface="Quicksand"/>
              </a:rPr>
              <a:t>any</a:t>
            </a:r>
            <a:r>
              <a:rPr lang="it-IT" sz="236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360" spc="7" dirty="0" err="1">
                <a:solidFill>
                  <a:srgbClr val="000000"/>
                </a:solidFill>
                <a:latin typeface="Quicksand"/>
              </a:rPr>
              <a:t>forbidden</a:t>
            </a:r>
            <a:r>
              <a:rPr lang="it-IT" sz="236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360" spc="7" dirty="0" err="1">
                <a:solidFill>
                  <a:srgbClr val="000000"/>
                </a:solidFill>
                <a:latin typeface="Quicksand"/>
              </a:rPr>
              <a:t>allergens</a:t>
            </a:r>
            <a:r>
              <a:rPr lang="it-IT" sz="2360" spc="7" dirty="0">
                <a:solidFill>
                  <a:srgbClr val="000000"/>
                </a:solidFill>
                <a:latin typeface="Quicksand"/>
              </a:rPr>
              <a:t> or </a:t>
            </a:r>
            <a:r>
              <a:rPr lang="it-IT" sz="2360" spc="7" dirty="0" err="1">
                <a:solidFill>
                  <a:srgbClr val="000000"/>
                </a:solidFill>
                <a:latin typeface="Quicksand"/>
              </a:rPr>
              <a:t>dietary</a:t>
            </a:r>
            <a:r>
              <a:rPr lang="it-IT" sz="236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360" spc="7" dirty="0" err="1">
                <a:solidFill>
                  <a:srgbClr val="000000"/>
                </a:solidFill>
                <a:latin typeface="Quicksand"/>
              </a:rPr>
              <a:t>profiles</a:t>
            </a:r>
            <a:r>
              <a:rPr lang="it-IT" sz="2360" spc="7" dirty="0">
                <a:solidFill>
                  <a:srgbClr val="000000"/>
                </a:solidFill>
                <a:latin typeface="Quicksand"/>
              </a:rPr>
              <a:t> for </a:t>
            </a:r>
            <a:r>
              <a:rPr lang="it-IT" sz="2360" spc="7" dirty="0" err="1">
                <a:solidFill>
                  <a:srgbClr val="000000"/>
                </a:solidFill>
                <a:latin typeface="Quicksand"/>
              </a:rPr>
              <a:t>which</a:t>
            </a:r>
            <a:r>
              <a:rPr lang="it-IT" sz="2360" spc="7" dirty="0">
                <a:solidFill>
                  <a:srgbClr val="000000"/>
                </a:solidFill>
                <a:latin typeface="Quicksand"/>
              </a:rPr>
              <a:t> the product </a:t>
            </a:r>
            <a:r>
              <a:rPr lang="it-IT" sz="2360" spc="7" dirty="0" err="1">
                <a:solidFill>
                  <a:srgbClr val="000000"/>
                </a:solidFill>
                <a:latin typeface="Quicksand"/>
              </a:rPr>
              <a:t>is</a:t>
            </a:r>
            <a:r>
              <a:rPr lang="it-IT" sz="236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360" b="1" spc="7" dirty="0" err="1">
                <a:solidFill>
                  <a:srgbClr val="000000"/>
                </a:solidFill>
                <a:latin typeface="Quicksand Bold"/>
              </a:rPr>
              <a:t>unsuitable</a:t>
            </a:r>
            <a:r>
              <a:rPr lang="it-IT" sz="2360" spc="7" dirty="0">
                <a:solidFill>
                  <a:srgbClr val="000000"/>
                </a:solidFill>
                <a:latin typeface="Quicksand"/>
              </a:rPr>
              <a:t>. </a:t>
            </a:r>
            <a:endParaRPr lang="en-US" sz="2360" spc="7" dirty="0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just">
              <a:lnSpc>
                <a:spcPts val="3304"/>
              </a:lnSpc>
            </a:pPr>
            <a:endParaRPr lang="en-US" sz="2360" spc="7" dirty="0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44756" lvl="1" indent="-222378">
              <a:lnSpc>
                <a:spcPts val="2884"/>
              </a:lnSpc>
              <a:buFont typeface="Arial"/>
              <a:buChar char="•"/>
            </a:pPr>
            <a:r>
              <a:rPr lang="it-IT" sz="2060" spc="6" dirty="0">
                <a:solidFill>
                  <a:srgbClr val="000000"/>
                </a:solidFill>
                <a:latin typeface="Quicksand"/>
              </a:rPr>
              <a:t>EU‑</a:t>
            </a:r>
            <a:r>
              <a:rPr lang="it-IT" sz="2060" spc="6" dirty="0" err="1">
                <a:solidFill>
                  <a:srgbClr val="000000"/>
                </a:solidFill>
                <a:latin typeface="Quicksand"/>
              </a:rPr>
              <a:t>declared</a:t>
            </a:r>
            <a:r>
              <a:rPr lang="it-IT" sz="2060" spc="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060" spc="6" dirty="0" err="1">
                <a:solidFill>
                  <a:srgbClr val="000000"/>
                </a:solidFill>
                <a:latin typeface="Quicksand"/>
              </a:rPr>
              <a:t>allergens</a:t>
            </a:r>
            <a:r>
              <a:rPr lang="it-IT" sz="2060" spc="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060" spc="6" dirty="0" err="1">
                <a:solidFill>
                  <a:srgbClr val="000000"/>
                </a:solidFill>
                <a:latin typeface="Quicksand"/>
              </a:rPr>
              <a:t>present</a:t>
            </a:r>
            <a:r>
              <a:rPr lang="it-IT" sz="2060" spc="6" dirty="0">
                <a:solidFill>
                  <a:srgbClr val="000000"/>
                </a:solidFill>
                <a:latin typeface="Quicksand"/>
              </a:rPr>
              <a:t> in the product and/or </a:t>
            </a:r>
            <a:r>
              <a:rPr lang="it-IT" sz="2060" spc="6" dirty="0" err="1">
                <a:solidFill>
                  <a:srgbClr val="000000"/>
                </a:solidFill>
                <a:latin typeface="Quicksand"/>
              </a:rPr>
              <a:t>unmet</a:t>
            </a:r>
            <a:r>
              <a:rPr lang="it-IT" sz="2060" spc="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060" spc="6" dirty="0" err="1">
                <a:solidFill>
                  <a:srgbClr val="000000"/>
                </a:solidFill>
                <a:latin typeface="Quicksand"/>
              </a:rPr>
              <a:t>dietary</a:t>
            </a:r>
            <a:r>
              <a:rPr lang="it-IT" sz="2060" spc="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060" spc="6" dirty="0" err="1">
                <a:solidFill>
                  <a:srgbClr val="000000"/>
                </a:solidFill>
                <a:latin typeface="Quicksand"/>
              </a:rPr>
              <a:t>requirements</a:t>
            </a:r>
            <a:endParaRPr lang="en-US" sz="2060" spc="6" dirty="0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44756" lvl="1" indent="-222378">
              <a:lnSpc>
                <a:spcPts val="2884"/>
              </a:lnSpc>
              <a:buFont typeface="Arial"/>
              <a:buChar char="•"/>
            </a:pPr>
            <a:r>
              <a:rPr lang="it-IT" sz="2060" spc="6" dirty="0">
                <a:solidFill>
                  <a:srgbClr val="000000"/>
                </a:solidFill>
                <a:latin typeface="Quicksand"/>
              </a:rPr>
              <a:t>intense </a:t>
            </a:r>
            <a:r>
              <a:rPr lang="it-IT" sz="2060" spc="6" dirty="0" err="1">
                <a:solidFill>
                  <a:srgbClr val="000000"/>
                </a:solidFill>
                <a:latin typeface="Quicksand"/>
              </a:rPr>
              <a:t>haptic</a:t>
            </a:r>
            <a:r>
              <a:rPr lang="it-IT" sz="2060" spc="6" dirty="0">
                <a:solidFill>
                  <a:srgbClr val="000000"/>
                </a:solidFill>
                <a:latin typeface="Quicksand"/>
              </a:rPr>
              <a:t> feedback </a:t>
            </a:r>
            <a:r>
              <a:rPr lang="it-IT" sz="2060" spc="6" dirty="0" err="1">
                <a:solidFill>
                  <a:srgbClr val="000000"/>
                </a:solidFill>
                <a:latin typeface="Quicksand"/>
              </a:rPr>
              <a:t>paired</a:t>
            </a:r>
            <a:r>
              <a:rPr lang="it-IT" sz="2060" spc="6" dirty="0">
                <a:solidFill>
                  <a:srgbClr val="000000"/>
                </a:solidFill>
                <a:latin typeface="Quicksand"/>
              </a:rPr>
              <a:t> with an alert sound</a:t>
            </a:r>
            <a:r>
              <a:rPr lang="en-US" sz="2060" spc="6" dirty="0">
                <a:solidFill>
                  <a:srgbClr val="000000"/>
                </a:solidFill>
                <a:latin typeface="Quicksand"/>
                <a:sym typeface="Quicksand"/>
              </a:rPr>
              <a:t>feedback</a:t>
            </a:r>
            <a:endParaRPr lang="en-US" sz="2060" spc="6" dirty="0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6741170" y="2810982"/>
            <a:ext cx="4805661" cy="6313005"/>
            <a:chOff x="0" y="0"/>
            <a:chExt cx="1265688" cy="166268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65688" cy="1662684"/>
            </a:xfrm>
            <a:custGeom>
              <a:avLst/>
              <a:gdLst/>
              <a:ahLst/>
              <a:cxnLst/>
              <a:rect l="l" t="t" r="r" b="b"/>
              <a:pathLst>
                <a:path w="1265688" h="1662684">
                  <a:moveTo>
                    <a:pt x="82161" y="0"/>
                  </a:moveTo>
                  <a:lnTo>
                    <a:pt x="1183527" y="0"/>
                  </a:lnTo>
                  <a:cubicBezTo>
                    <a:pt x="1228904" y="0"/>
                    <a:pt x="1265688" y="36785"/>
                    <a:pt x="1265688" y="82161"/>
                  </a:cubicBezTo>
                  <a:lnTo>
                    <a:pt x="1265688" y="1580523"/>
                  </a:lnTo>
                  <a:cubicBezTo>
                    <a:pt x="1265688" y="1602314"/>
                    <a:pt x="1257032" y="1623212"/>
                    <a:pt x="1241624" y="1638620"/>
                  </a:cubicBezTo>
                  <a:cubicBezTo>
                    <a:pt x="1226216" y="1654028"/>
                    <a:pt x="1205318" y="1662684"/>
                    <a:pt x="1183527" y="1662684"/>
                  </a:cubicBezTo>
                  <a:lnTo>
                    <a:pt x="82161" y="1662684"/>
                  </a:lnTo>
                  <a:cubicBezTo>
                    <a:pt x="36785" y="1662684"/>
                    <a:pt x="0" y="1625900"/>
                    <a:pt x="0" y="1580523"/>
                  </a:cubicBezTo>
                  <a:lnTo>
                    <a:pt x="0" y="82161"/>
                  </a:lnTo>
                  <a:cubicBezTo>
                    <a:pt x="0" y="36785"/>
                    <a:pt x="36785" y="0"/>
                    <a:pt x="82161" y="0"/>
                  </a:cubicBezTo>
                  <a:close/>
                </a:path>
              </a:pathLst>
            </a:custGeom>
            <a:solidFill>
              <a:srgbClr val="F5E6A3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1265688" cy="1757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62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137054" y="3167940"/>
            <a:ext cx="4013892" cy="455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7"/>
              </a:lnSpc>
            </a:pPr>
            <a:r>
              <a:rPr lang="en-US" sz="234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WARNING STATE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039481" y="4077526"/>
            <a:ext cx="4209037" cy="3945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304"/>
              </a:lnSpc>
            </a:pPr>
            <a:r>
              <a:rPr lang="it-IT" sz="2360" spc="7" dirty="0" err="1">
                <a:solidFill>
                  <a:srgbClr val="000000"/>
                </a:solidFill>
                <a:latin typeface="Quicksand"/>
              </a:rPr>
              <a:t>Signals</a:t>
            </a:r>
            <a:r>
              <a:rPr lang="it-IT" sz="2360" spc="7" dirty="0">
                <a:solidFill>
                  <a:srgbClr val="000000"/>
                </a:solidFill>
                <a:latin typeface="Quicksand"/>
              </a:rPr>
              <a:t> the </a:t>
            </a:r>
            <a:r>
              <a:rPr lang="it-IT" sz="2360" spc="7" dirty="0" err="1">
                <a:solidFill>
                  <a:srgbClr val="000000"/>
                </a:solidFill>
                <a:latin typeface="Quicksand"/>
              </a:rPr>
              <a:t>presence</a:t>
            </a:r>
            <a:r>
              <a:rPr lang="it-IT" sz="2360" spc="7" dirty="0">
                <a:solidFill>
                  <a:srgbClr val="000000"/>
                </a:solidFill>
                <a:latin typeface="Quicksand"/>
              </a:rPr>
              <a:t> of </a:t>
            </a:r>
            <a:r>
              <a:rPr lang="it-IT" sz="2360" b="1" spc="7" dirty="0" err="1">
                <a:solidFill>
                  <a:srgbClr val="000000"/>
                </a:solidFill>
                <a:latin typeface="Quicksand Bold"/>
              </a:rPr>
              <a:t>potentially</a:t>
            </a:r>
            <a:r>
              <a:rPr lang="it-IT" sz="2360" b="1" spc="7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it-IT" sz="2360" b="1" spc="7" dirty="0" err="1">
                <a:solidFill>
                  <a:srgbClr val="000000"/>
                </a:solidFill>
                <a:latin typeface="Quicksand Bold"/>
              </a:rPr>
              <a:t>risky</a:t>
            </a:r>
            <a:r>
              <a:rPr lang="it-IT" sz="2360" b="1" spc="7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it-IT" sz="2360" spc="7" dirty="0" err="1">
                <a:solidFill>
                  <a:srgbClr val="000000"/>
                </a:solidFill>
                <a:latin typeface="Quicksand"/>
              </a:rPr>
              <a:t>allergen</a:t>
            </a:r>
            <a:r>
              <a:rPr lang="it-IT" sz="236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360" spc="7" dirty="0" err="1">
                <a:solidFill>
                  <a:srgbClr val="000000"/>
                </a:solidFill>
                <a:latin typeface="Quicksand"/>
              </a:rPr>
              <a:t>traces</a:t>
            </a:r>
            <a:r>
              <a:rPr lang="it-IT" sz="236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360" spc="7" dirty="0" err="1">
                <a:solidFill>
                  <a:srgbClr val="000000"/>
                </a:solidFill>
                <a:latin typeface="Quicksand"/>
              </a:rPr>
              <a:t>within</a:t>
            </a:r>
            <a:r>
              <a:rPr lang="it-IT" sz="2360" spc="7" dirty="0">
                <a:solidFill>
                  <a:srgbClr val="000000"/>
                </a:solidFill>
                <a:latin typeface="Quicksand"/>
              </a:rPr>
              <a:t> the product. </a:t>
            </a:r>
            <a:endParaRPr lang="en-US" sz="2360" spc="7" dirty="0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just">
              <a:lnSpc>
                <a:spcPts val="3304"/>
              </a:lnSpc>
            </a:pPr>
            <a:endParaRPr lang="en-US" sz="2360" spc="7" dirty="0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just">
              <a:lnSpc>
                <a:spcPts val="3304"/>
              </a:lnSpc>
            </a:pPr>
            <a:endParaRPr lang="en-US" sz="2360" spc="7" dirty="0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44756" lvl="1" indent="-222378" algn="just">
              <a:lnSpc>
                <a:spcPts val="2884"/>
              </a:lnSpc>
              <a:buFont typeface="Arial"/>
              <a:buChar char="•"/>
            </a:pPr>
            <a:r>
              <a:rPr lang="it-IT" sz="2060" spc="6" dirty="0" err="1">
                <a:solidFill>
                  <a:srgbClr val="000000"/>
                </a:solidFill>
                <a:latin typeface="Quicksand"/>
              </a:rPr>
              <a:t>declared</a:t>
            </a:r>
            <a:r>
              <a:rPr lang="it-IT" sz="2060" spc="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060" spc="6" dirty="0" err="1">
                <a:solidFill>
                  <a:srgbClr val="000000"/>
                </a:solidFill>
                <a:latin typeface="Quicksand"/>
              </a:rPr>
              <a:t>traces</a:t>
            </a:r>
            <a:r>
              <a:rPr lang="it-IT" sz="2060" spc="6" dirty="0">
                <a:solidFill>
                  <a:srgbClr val="000000"/>
                </a:solidFill>
                <a:latin typeface="Quicksand"/>
              </a:rPr>
              <a:t> of EU‑</a:t>
            </a:r>
            <a:r>
              <a:rPr lang="it-IT" sz="2060" spc="6" dirty="0" err="1">
                <a:solidFill>
                  <a:srgbClr val="000000"/>
                </a:solidFill>
                <a:latin typeface="Quicksand"/>
              </a:rPr>
              <a:t>regulated</a:t>
            </a:r>
            <a:r>
              <a:rPr lang="it-IT" sz="2060" spc="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060" spc="6" dirty="0" err="1">
                <a:solidFill>
                  <a:srgbClr val="000000"/>
                </a:solidFill>
                <a:latin typeface="Quicksand"/>
              </a:rPr>
              <a:t>allergens</a:t>
            </a:r>
            <a:r>
              <a:rPr lang="it-IT" sz="2060" spc="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060" spc="6" dirty="0" err="1">
                <a:solidFill>
                  <a:srgbClr val="000000"/>
                </a:solidFill>
                <a:latin typeface="Quicksand"/>
              </a:rPr>
              <a:t>present</a:t>
            </a:r>
            <a:r>
              <a:rPr lang="it-IT" sz="2060" spc="6" dirty="0">
                <a:solidFill>
                  <a:srgbClr val="000000"/>
                </a:solidFill>
                <a:latin typeface="Quicksand"/>
              </a:rPr>
              <a:t> in the product</a:t>
            </a:r>
            <a:endParaRPr lang="en-US" sz="2060" spc="6" dirty="0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44756" lvl="1" indent="-222378">
              <a:lnSpc>
                <a:spcPts val="2884"/>
              </a:lnSpc>
              <a:buFont typeface="Arial"/>
              <a:buChar char="•"/>
            </a:pPr>
            <a:r>
              <a:rPr lang="it-IT" sz="2060" spc="6" dirty="0">
                <a:solidFill>
                  <a:srgbClr val="000000"/>
                </a:solidFill>
                <a:latin typeface="Quicksand"/>
              </a:rPr>
              <a:t>moderate alert to support an </a:t>
            </a:r>
            <a:r>
              <a:rPr lang="it-IT" sz="2060" spc="6" dirty="0" err="1">
                <a:solidFill>
                  <a:srgbClr val="000000"/>
                </a:solidFill>
                <a:latin typeface="Quicksand"/>
              </a:rPr>
              <a:t>informed</a:t>
            </a:r>
            <a:r>
              <a:rPr lang="it-IT" sz="2060" spc="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060" spc="6" dirty="0" err="1">
                <a:solidFill>
                  <a:srgbClr val="000000"/>
                </a:solidFill>
                <a:latin typeface="Quicksand"/>
              </a:rPr>
              <a:t>choice</a:t>
            </a:r>
            <a:endParaRPr lang="en-US" sz="2060" spc="6" dirty="0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12451705" y="2810982"/>
            <a:ext cx="4805661" cy="6313005"/>
            <a:chOff x="0" y="0"/>
            <a:chExt cx="1265688" cy="166268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65688" cy="1662684"/>
            </a:xfrm>
            <a:custGeom>
              <a:avLst/>
              <a:gdLst/>
              <a:ahLst/>
              <a:cxnLst/>
              <a:rect l="l" t="t" r="r" b="b"/>
              <a:pathLst>
                <a:path w="1265688" h="1662684">
                  <a:moveTo>
                    <a:pt x="82161" y="0"/>
                  </a:moveTo>
                  <a:lnTo>
                    <a:pt x="1183527" y="0"/>
                  </a:lnTo>
                  <a:cubicBezTo>
                    <a:pt x="1228904" y="0"/>
                    <a:pt x="1265688" y="36785"/>
                    <a:pt x="1265688" y="82161"/>
                  </a:cubicBezTo>
                  <a:lnTo>
                    <a:pt x="1265688" y="1580523"/>
                  </a:lnTo>
                  <a:cubicBezTo>
                    <a:pt x="1265688" y="1602314"/>
                    <a:pt x="1257032" y="1623212"/>
                    <a:pt x="1241624" y="1638620"/>
                  </a:cubicBezTo>
                  <a:cubicBezTo>
                    <a:pt x="1226216" y="1654028"/>
                    <a:pt x="1205318" y="1662684"/>
                    <a:pt x="1183527" y="1662684"/>
                  </a:cubicBezTo>
                  <a:lnTo>
                    <a:pt x="82161" y="1662684"/>
                  </a:lnTo>
                  <a:cubicBezTo>
                    <a:pt x="36785" y="1662684"/>
                    <a:pt x="0" y="1625900"/>
                    <a:pt x="0" y="1580523"/>
                  </a:cubicBezTo>
                  <a:lnTo>
                    <a:pt x="0" y="82161"/>
                  </a:lnTo>
                  <a:cubicBezTo>
                    <a:pt x="0" y="36785"/>
                    <a:pt x="36785" y="0"/>
                    <a:pt x="82161" y="0"/>
                  </a:cubicBezTo>
                  <a:close/>
                </a:path>
              </a:pathLst>
            </a:custGeom>
            <a:solidFill>
              <a:srgbClr val="C8EDA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0"/>
              <a:ext cx="1265688" cy="1757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62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2819133" y="3167940"/>
            <a:ext cx="4013892" cy="455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7"/>
              </a:lnSpc>
            </a:pPr>
            <a:r>
              <a:rPr lang="en-US" sz="234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COMPATIBLE STATE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749356" y="4077526"/>
            <a:ext cx="4211411" cy="4334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04"/>
              </a:lnSpc>
            </a:pPr>
            <a:r>
              <a:rPr lang="it-IT" sz="2360" b="1" spc="7" dirty="0" err="1">
                <a:solidFill>
                  <a:srgbClr val="000000"/>
                </a:solidFill>
                <a:latin typeface="Quicksand Bold"/>
              </a:rPr>
              <a:t>Confirms</a:t>
            </a:r>
            <a:r>
              <a:rPr lang="it-IT" sz="236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360" spc="7" dirty="0" err="1">
                <a:solidFill>
                  <a:srgbClr val="000000"/>
                </a:solidFill>
                <a:latin typeface="Quicksand"/>
              </a:rPr>
              <a:t>that</a:t>
            </a:r>
            <a:r>
              <a:rPr lang="it-IT" sz="2360" spc="7" dirty="0">
                <a:solidFill>
                  <a:srgbClr val="000000"/>
                </a:solidFill>
                <a:latin typeface="Quicksand"/>
              </a:rPr>
              <a:t> the product </a:t>
            </a:r>
            <a:r>
              <a:rPr lang="it-IT" sz="2360" spc="7" dirty="0" err="1">
                <a:solidFill>
                  <a:srgbClr val="000000"/>
                </a:solidFill>
                <a:latin typeface="Quicksand"/>
              </a:rPr>
              <a:t>is</a:t>
            </a:r>
            <a:r>
              <a:rPr lang="it-IT" sz="236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360" spc="7" dirty="0" err="1">
                <a:solidFill>
                  <a:srgbClr val="000000"/>
                </a:solidFill>
                <a:latin typeface="Quicksand"/>
              </a:rPr>
              <a:t>fully</a:t>
            </a:r>
            <a:r>
              <a:rPr lang="it-IT" sz="236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360" spc="7" dirty="0" err="1">
                <a:solidFill>
                  <a:srgbClr val="000000"/>
                </a:solidFill>
                <a:latin typeface="Quicksand"/>
              </a:rPr>
              <a:t>compatible</a:t>
            </a:r>
            <a:r>
              <a:rPr lang="it-IT" sz="2360" spc="7" dirty="0">
                <a:solidFill>
                  <a:srgbClr val="000000"/>
                </a:solidFill>
                <a:latin typeface="Quicksand"/>
              </a:rPr>
              <a:t> and </a:t>
            </a:r>
            <a:r>
              <a:rPr lang="it-IT" sz="2360" spc="7" dirty="0" err="1">
                <a:solidFill>
                  <a:srgbClr val="000000"/>
                </a:solidFill>
                <a:latin typeface="Quicksand"/>
              </a:rPr>
              <a:t>reveals</a:t>
            </a:r>
            <a:r>
              <a:rPr lang="it-IT" sz="236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360" spc="7" dirty="0" err="1">
                <a:solidFill>
                  <a:srgbClr val="000000"/>
                </a:solidFill>
                <a:latin typeface="Quicksand"/>
              </a:rPr>
              <a:t>its</a:t>
            </a:r>
            <a:r>
              <a:rPr lang="it-IT" sz="2360" spc="7" dirty="0">
                <a:solidFill>
                  <a:srgbClr val="000000"/>
                </a:solidFill>
                <a:latin typeface="Quicksand"/>
              </a:rPr>
              <a:t> complete </a:t>
            </a:r>
            <a:r>
              <a:rPr lang="it-IT" sz="2360" spc="7" dirty="0" err="1">
                <a:solidFill>
                  <a:srgbClr val="000000"/>
                </a:solidFill>
                <a:latin typeface="Quicksand"/>
              </a:rPr>
              <a:t>nutritional</a:t>
            </a:r>
            <a:r>
              <a:rPr lang="it-IT" sz="236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360" spc="7" dirty="0" err="1">
                <a:solidFill>
                  <a:srgbClr val="000000"/>
                </a:solidFill>
                <a:latin typeface="Quicksand"/>
              </a:rPr>
              <a:t>profile</a:t>
            </a:r>
            <a:r>
              <a:rPr lang="it-IT" sz="2360" spc="7" dirty="0">
                <a:solidFill>
                  <a:srgbClr val="000000"/>
                </a:solidFill>
                <a:latin typeface="Quicksand"/>
              </a:rPr>
              <a:t>.</a:t>
            </a:r>
            <a:endParaRPr lang="en-US" sz="2360" spc="7" dirty="0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just">
              <a:lnSpc>
                <a:spcPts val="3304"/>
              </a:lnSpc>
            </a:pPr>
            <a:endParaRPr lang="en-US" sz="2360" spc="7" dirty="0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44756" lvl="1" indent="-222378" algn="just">
              <a:lnSpc>
                <a:spcPts val="2884"/>
              </a:lnSpc>
              <a:buFont typeface="Arial"/>
              <a:buChar char="•"/>
            </a:pPr>
            <a:r>
              <a:rPr lang="en-US" sz="2060" spc="6" dirty="0">
                <a:solidFill>
                  <a:srgbClr val="000000"/>
                </a:solidFill>
                <a:latin typeface="Quicksand"/>
                <a:sym typeface="Quicksand"/>
              </a:rPr>
              <a:t>n</a:t>
            </a:r>
            <a:r>
              <a:rPr lang="it-IT" sz="2060" spc="6" dirty="0">
                <a:solidFill>
                  <a:srgbClr val="000000"/>
                </a:solidFill>
                <a:latin typeface="Quicksand"/>
              </a:rPr>
              <a:t>o </a:t>
            </a:r>
            <a:r>
              <a:rPr lang="it-IT" sz="2060" spc="6" dirty="0" err="1">
                <a:solidFill>
                  <a:srgbClr val="000000"/>
                </a:solidFill>
                <a:latin typeface="Quicksand"/>
              </a:rPr>
              <a:t>relevant</a:t>
            </a:r>
            <a:r>
              <a:rPr lang="it-IT" sz="2060" spc="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060" spc="6" dirty="0" err="1">
                <a:solidFill>
                  <a:srgbClr val="000000"/>
                </a:solidFill>
                <a:latin typeface="Quicksand"/>
              </a:rPr>
              <a:t>allergens</a:t>
            </a:r>
            <a:r>
              <a:rPr lang="it-IT" sz="2060" spc="6" dirty="0">
                <a:solidFill>
                  <a:srgbClr val="000000"/>
                </a:solidFill>
                <a:latin typeface="Quicksand"/>
              </a:rPr>
              <a:t> or </a:t>
            </a:r>
            <a:r>
              <a:rPr lang="it-IT" sz="2060" spc="6" dirty="0" err="1">
                <a:solidFill>
                  <a:srgbClr val="000000"/>
                </a:solidFill>
                <a:latin typeface="Quicksand"/>
              </a:rPr>
              <a:t>traces</a:t>
            </a:r>
            <a:r>
              <a:rPr lang="it-IT" sz="2060" spc="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060" spc="6" dirty="0" err="1">
                <a:solidFill>
                  <a:srgbClr val="000000"/>
                </a:solidFill>
                <a:latin typeface="Quicksand"/>
              </a:rPr>
              <a:t>detected</a:t>
            </a:r>
            <a:r>
              <a:rPr lang="it-IT" sz="2060" spc="6" dirty="0">
                <a:solidFill>
                  <a:srgbClr val="000000"/>
                </a:solidFill>
                <a:latin typeface="Quicksand"/>
              </a:rPr>
              <a:t>, and </a:t>
            </a:r>
            <a:r>
              <a:rPr lang="it-IT" sz="2060" spc="6" dirty="0" err="1">
                <a:solidFill>
                  <a:srgbClr val="000000"/>
                </a:solidFill>
                <a:latin typeface="Quicksand"/>
              </a:rPr>
              <a:t>all</a:t>
            </a:r>
            <a:r>
              <a:rPr lang="it-IT" sz="2060" spc="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060" spc="6" dirty="0" err="1">
                <a:solidFill>
                  <a:srgbClr val="000000"/>
                </a:solidFill>
                <a:latin typeface="Quicksand"/>
              </a:rPr>
              <a:t>dietary</a:t>
            </a:r>
            <a:r>
              <a:rPr lang="it-IT" sz="2060" spc="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060" spc="6" dirty="0" err="1">
                <a:solidFill>
                  <a:srgbClr val="000000"/>
                </a:solidFill>
                <a:latin typeface="Quicksand"/>
              </a:rPr>
              <a:t>requirements</a:t>
            </a:r>
            <a:r>
              <a:rPr lang="it-IT" sz="2060" spc="6" dirty="0">
                <a:solidFill>
                  <a:srgbClr val="000000"/>
                </a:solidFill>
                <a:latin typeface="Quicksand"/>
              </a:rPr>
              <a:t> are </a:t>
            </a:r>
            <a:r>
              <a:rPr lang="it-IT" sz="2060" spc="6" dirty="0" err="1">
                <a:solidFill>
                  <a:srgbClr val="000000"/>
                </a:solidFill>
                <a:latin typeface="Quicksand"/>
              </a:rPr>
              <a:t>fully</a:t>
            </a:r>
            <a:r>
              <a:rPr lang="it-IT" sz="2060" spc="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060" spc="6" dirty="0" err="1">
                <a:solidFill>
                  <a:srgbClr val="000000"/>
                </a:solidFill>
                <a:latin typeface="Quicksand"/>
              </a:rPr>
              <a:t>met</a:t>
            </a:r>
            <a:endParaRPr lang="en-US" sz="2060" spc="6" dirty="0">
              <a:solidFill>
                <a:srgbClr val="000000"/>
              </a:solidFill>
              <a:latin typeface="Quicksand"/>
              <a:sym typeface="Quicksand"/>
            </a:endParaRPr>
          </a:p>
          <a:p>
            <a:pPr marL="444756" lvl="1" indent="-222378">
              <a:lnSpc>
                <a:spcPts val="2884"/>
              </a:lnSpc>
              <a:buFont typeface="Arial"/>
              <a:buChar char="•"/>
            </a:pPr>
            <a:r>
              <a:rPr lang="it-IT" sz="2060" spc="6" dirty="0" err="1">
                <a:solidFill>
                  <a:srgbClr val="000000"/>
                </a:solidFill>
                <a:latin typeface="Quicksand"/>
              </a:rPr>
              <a:t>confirmation</a:t>
            </a:r>
            <a:r>
              <a:rPr lang="it-IT" sz="2060" spc="6" dirty="0">
                <a:solidFill>
                  <a:srgbClr val="000000"/>
                </a:solidFill>
                <a:latin typeface="Quicksand"/>
              </a:rPr>
              <a:t> alert with </a:t>
            </a:r>
            <a:r>
              <a:rPr lang="it-IT" sz="2060" spc="6" dirty="0" err="1">
                <a:solidFill>
                  <a:srgbClr val="000000"/>
                </a:solidFill>
                <a:latin typeface="Quicksand"/>
              </a:rPr>
              <a:t>detailed</a:t>
            </a:r>
            <a:r>
              <a:rPr lang="it-IT" sz="2060" spc="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060" spc="6" dirty="0" err="1">
                <a:solidFill>
                  <a:srgbClr val="000000"/>
                </a:solidFill>
                <a:latin typeface="Quicksand"/>
              </a:rPr>
              <a:t>corresponding</a:t>
            </a:r>
            <a:r>
              <a:rPr lang="it-IT" sz="2060" spc="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060" spc="6" dirty="0" err="1">
                <a:solidFill>
                  <a:srgbClr val="000000"/>
                </a:solidFill>
                <a:latin typeface="Quicksand"/>
              </a:rPr>
              <a:t>nutritional</a:t>
            </a:r>
            <a:r>
              <a:rPr lang="it-IT" sz="2060" spc="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060" spc="6" dirty="0" err="1">
                <a:solidFill>
                  <a:srgbClr val="000000"/>
                </a:solidFill>
                <a:latin typeface="Quicksand"/>
              </a:rPr>
              <a:t>values</a:t>
            </a:r>
            <a:endParaRPr lang="en-US" sz="2060" spc="6" dirty="0">
              <a:solidFill>
                <a:srgbClr val="000000"/>
              </a:solidFill>
              <a:latin typeface="Quicksand"/>
              <a:sym typeface="Quicksand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17047135" y="159928"/>
            <a:ext cx="984896" cy="984896"/>
          </a:xfrm>
          <a:custGeom>
            <a:avLst/>
            <a:gdLst/>
            <a:ahLst/>
            <a:cxnLst/>
            <a:rect l="l" t="t" r="r" b="b"/>
            <a:pathLst>
              <a:path w="984896" h="984896">
                <a:moveTo>
                  <a:pt x="0" y="0"/>
                </a:moveTo>
                <a:lnTo>
                  <a:pt x="984896" y="0"/>
                </a:lnTo>
                <a:lnTo>
                  <a:pt x="984896" y="984896"/>
                </a:lnTo>
                <a:lnTo>
                  <a:pt x="0" y="9848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047135" y="159928"/>
            <a:ext cx="984896" cy="984896"/>
          </a:xfrm>
          <a:custGeom>
            <a:avLst/>
            <a:gdLst/>
            <a:ahLst/>
            <a:cxnLst/>
            <a:rect l="l" t="t" r="r" b="b"/>
            <a:pathLst>
              <a:path w="984896" h="984896">
                <a:moveTo>
                  <a:pt x="0" y="0"/>
                </a:moveTo>
                <a:lnTo>
                  <a:pt x="984896" y="0"/>
                </a:lnTo>
                <a:lnTo>
                  <a:pt x="984896" y="984896"/>
                </a:lnTo>
                <a:lnTo>
                  <a:pt x="0" y="9848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853835" y="2118026"/>
            <a:ext cx="4432066" cy="2746491"/>
            <a:chOff x="0" y="0"/>
            <a:chExt cx="1167293" cy="72335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67293" cy="723356"/>
            </a:xfrm>
            <a:custGeom>
              <a:avLst/>
              <a:gdLst/>
              <a:ahLst/>
              <a:cxnLst/>
              <a:rect l="l" t="t" r="r" b="b"/>
              <a:pathLst>
                <a:path w="1167293" h="723356">
                  <a:moveTo>
                    <a:pt x="89087" y="0"/>
                  </a:moveTo>
                  <a:lnTo>
                    <a:pt x="1078206" y="0"/>
                  </a:lnTo>
                  <a:cubicBezTo>
                    <a:pt x="1101834" y="0"/>
                    <a:pt x="1124493" y="9386"/>
                    <a:pt x="1141200" y="26093"/>
                  </a:cubicBezTo>
                  <a:cubicBezTo>
                    <a:pt x="1157907" y="42800"/>
                    <a:pt x="1167293" y="65459"/>
                    <a:pt x="1167293" y="89087"/>
                  </a:cubicBezTo>
                  <a:lnTo>
                    <a:pt x="1167293" y="634269"/>
                  </a:lnTo>
                  <a:cubicBezTo>
                    <a:pt x="1167293" y="657896"/>
                    <a:pt x="1157907" y="680556"/>
                    <a:pt x="1141200" y="697263"/>
                  </a:cubicBezTo>
                  <a:cubicBezTo>
                    <a:pt x="1124493" y="713970"/>
                    <a:pt x="1101834" y="723356"/>
                    <a:pt x="1078206" y="723356"/>
                  </a:cubicBezTo>
                  <a:lnTo>
                    <a:pt x="89087" y="723356"/>
                  </a:lnTo>
                  <a:cubicBezTo>
                    <a:pt x="39885" y="723356"/>
                    <a:pt x="0" y="683470"/>
                    <a:pt x="0" y="634269"/>
                  </a:cubicBezTo>
                  <a:lnTo>
                    <a:pt x="0" y="89087"/>
                  </a:lnTo>
                  <a:cubicBezTo>
                    <a:pt x="0" y="65459"/>
                    <a:pt x="9386" y="42800"/>
                    <a:pt x="26093" y="26093"/>
                  </a:cubicBezTo>
                  <a:cubicBezTo>
                    <a:pt x="42800" y="9386"/>
                    <a:pt x="65459" y="0"/>
                    <a:pt x="89087" y="0"/>
                  </a:cubicBezTo>
                  <a:close/>
                </a:path>
              </a:pathLst>
            </a:custGeom>
            <a:solidFill>
              <a:srgbClr val="D8F4BE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1167293" cy="818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62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379055" y="3165009"/>
            <a:ext cx="2379669" cy="394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7"/>
              </a:lnSpc>
            </a:pPr>
            <a:r>
              <a:rPr lang="en-US" sz="24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Input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152326" y="1930255"/>
            <a:ext cx="4883554" cy="2507609"/>
            <a:chOff x="0" y="0"/>
            <a:chExt cx="1286204" cy="6604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86204" cy="660440"/>
            </a:xfrm>
            <a:custGeom>
              <a:avLst/>
              <a:gdLst/>
              <a:ahLst/>
              <a:cxnLst/>
              <a:rect l="l" t="t" r="r" b="b"/>
              <a:pathLst>
                <a:path w="1286204" h="660440">
                  <a:moveTo>
                    <a:pt x="80851" y="0"/>
                  </a:moveTo>
                  <a:lnTo>
                    <a:pt x="1205353" y="0"/>
                  </a:lnTo>
                  <a:cubicBezTo>
                    <a:pt x="1250006" y="0"/>
                    <a:pt x="1286204" y="36198"/>
                    <a:pt x="1286204" y="80851"/>
                  </a:cubicBezTo>
                  <a:lnTo>
                    <a:pt x="1286204" y="579590"/>
                  </a:lnTo>
                  <a:cubicBezTo>
                    <a:pt x="1286204" y="624242"/>
                    <a:pt x="1250006" y="660440"/>
                    <a:pt x="1205353" y="660440"/>
                  </a:cubicBezTo>
                  <a:lnTo>
                    <a:pt x="80851" y="660440"/>
                  </a:lnTo>
                  <a:cubicBezTo>
                    <a:pt x="36198" y="660440"/>
                    <a:pt x="0" y="624242"/>
                    <a:pt x="0" y="579590"/>
                  </a:cubicBezTo>
                  <a:lnTo>
                    <a:pt x="0" y="80851"/>
                  </a:lnTo>
                  <a:cubicBezTo>
                    <a:pt x="0" y="36198"/>
                    <a:pt x="36198" y="0"/>
                    <a:pt x="80851" y="0"/>
                  </a:cubicBezTo>
                  <a:close/>
                </a:path>
              </a:pathLst>
            </a:custGeom>
            <a:solidFill>
              <a:srgbClr val="D8F4B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0"/>
              <a:ext cx="1286204" cy="7556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6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531181" y="1930255"/>
            <a:ext cx="4883554" cy="3371655"/>
            <a:chOff x="0" y="0"/>
            <a:chExt cx="1286204" cy="88800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86204" cy="888008"/>
            </a:xfrm>
            <a:custGeom>
              <a:avLst/>
              <a:gdLst/>
              <a:ahLst/>
              <a:cxnLst/>
              <a:rect l="l" t="t" r="r" b="b"/>
              <a:pathLst>
                <a:path w="1286204" h="888008">
                  <a:moveTo>
                    <a:pt x="80851" y="0"/>
                  </a:moveTo>
                  <a:lnTo>
                    <a:pt x="1205353" y="0"/>
                  </a:lnTo>
                  <a:cubicBezTo>
                    <a:pt x="1250006" y="0"/>
                    <a:pt x="1286204" y="36198"/>
                    <a:pt x="1286204" y="80851"/>
                  </a:cubicBezTo>
                  <a:lnTo>
                    <a:pt x="1286204" y="807157"/>
                  </a:lnTo>
                  <a:cubicBezTo>
                    <a:pt x="1286204" y="851810"/>
                    <a:pt x="1250006" y="888008"/>
                    <a:pt x="1205353" y="888008"/>
                  </a:cubicBezTo>
                  <a:lnTo>
                    <a:pt x="80851" y="888008"/>
                  </a:lnTo>
                  <a:cubicBezTo>
                    <a:pt x="36198" y="888008"/>
                    <a:pt x="0" y="851810"/>
                    <a:pt x="0" y="807157"/>
                  </a:cubicBezTo>
                  <a:lnTo>
                    <a:pt x="0" y="80851"/>
                  </a:lnTo>
                  <a:cubicBezTo>
                    <a:pt x="0" y="36198"/>
                    <a:pt x="36198" y="0"/>
                    <a:pt x="80851" y="0"/>
                  </a:cubicBezTo>
                  <a:close/>
                </a:path>
              </a:pathLst>
            </a:custGeom>
            <a:solidFill>
              <a:srgbClr val="D8F4B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0"/>
              <a:ext cx="1286204" cy="9832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6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752600" y="2825599"/>
            <a:ext cx="3324580" cy="14672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09525" lvl="1" indent="-254762">
              <a:lnSpc>
                <a:spcPts val="2943"/>
              </a:lnSpc>
              <a:buFont typeface="Arial"/>
              <a:buChar char="•"/>
            </a:pPr>
            <a:r>
              <a:rPr lang="it-IT" sz="2360" dirty="0" err="1">
                <a:solidFill>
                  <a:srgbClr val="000000"/>
                </a:solidFill>
                <a:latin typeface="Quicksand Light"/>
              </a:rPr>
              <a:t>detects</a:t>
            </a:r>
            <a:r>
              <a:rPr lang="it-IT" sz="2360" dirty="0">
                <a:solidFill>
                  <a:srgbClr val="000000"/>
                </a:solidFill>
                <a:latin typeface="Quicksand Light"/>
              </a:rPr>
              <a:t> in </a:t>
            </a:r>
            <a:r>
              <a:rPr lang="it-IT" sz="2360" dirty="0" err="1">
                <a:solidFill>
                  <a:srgbClr val="000000"/>
                </a:solidFill>
                <a:latin typeface="Quicksand Light"/>
              </a:rPr>
              <a:t>real</a:t>
            </a:r>
            <a:r>
              <a:rPr lang="it-IT" sz="2360" dirty="0">
                <a:solidFill>
                  <a:srgbClr val="000000"/>
                </a:solidFill>
                <a:latin typeface="Quicksand Light"/>
              </a:rPr>
              <a:t> time the </a:t>
            </a:r>
            <a:r>
              <a:rPr lang="it-IT" sz="2360" dirty="0" err="1">
                <a:solidFill>
                  <a:srgbClr val="000000"/>
                </a:solidFill>
                <a:latin typeface="Quicksand Light"/>
              </a:rPr>
              <a:t>physical</a:t>
            </a:r>
            <a:r>
              <a:rPr lang="it-IT" sz="2360" dirty="0">
                <a:solidFill>
                  <a:srgbClr val="000000"/>
                </a:solidFill>
                <a:latin typeface="Quicksand Light"/>
              </a:rPr>
              <a:t> marker printed on the </a:t>
            </a:r>
            <a:r>
              <a:rPr lang="it-IT" sz="2360" dirty="0" err="1">
                <a:solidFill>
                  <a:srgbClr val="000000"/>
                </a:solidFill>
                <a:latin typeface="Quicksand Light"/>
              </a:rPr>
              <a:t>product’s</a:t>
            </a:r>
            <a:r>
              <a:rPr lang="it-IT" sz="2360" dirty="0">
                <a:solidFill>
                  <a:srgbClr val="000000"/>
                </a:solidFill>
                <a:latin typeface="Quicksand Light"/>
              </a:rPr>
              <a:t> packaging</a:t>
            </a:r>
            <a:endParaRPr lang="en-US" sz="2360" dirty="0">
              <a:solidFill>
                <a:srgbClr val="000000"/>
              </a:solidFill>
              <a:latin typeface="Quicksand Light"/>
              <a:ea typeface="Quicksand Light"/>
              <a:cs typeface="Quicksand Light"/>
              <a:sym typeface="Quicksand Light"/>
            </a:endParaRPr>
          </a:p>
        </p:txBody>
      </p:sp>
      <p:grpSp>
        <p:nvGrpSpPr>
          <p:cNvPr id="14" name="Group 14"/>
          <p:cNvGrpSpPr/>
          <p:nvPr/>
        </p:nvGrpSpPr>
        <p:grpSpPr>
          <a:xfrm rot="-10800000">
            <a:off x="5148750" y="2762096"/>
            <a:ext cx="2096730" cy="1076306"/>
            <a:chOff x="0" y="0"/>
            <a:chExt cx="1382437" cy="70964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82437" cy="709641"/>
            </a:xfrm>
            <a:custGeom>
              <a:avLst/>
              <a:gdLst/>
              <a:ahLst/>
              <a:cxnLst/>
              <a:rect l="l" t="t" r="r" b="b"/>
              <a:pathLst>
                <a:path w="1382437" h="709641">
                  <a:moveTo>
                    <a:pt x="239386" y="167562"/>
                  </a:moveTo>
                  <a:lnTo>
                    <a:pt x="1382437" y="167562"/>
                  </a:lnTo>
                  <a:lnTo>
                    <a:pt x="1382437" y="542006"/>
                  </a:lnTo>
                  <a:lnTo>
                    <a:pt x="239373" y="542006"/>
                  </a:lnTo>
                  <a:lnTo>
                    <a:pt x="302255" y="709641"/>
                  </a:lnTo>
                  <a:lnTo>
                    <a:pt x="0" y="354820"/>
                  </a:lnTo>
                  <a:lnTo>
                    <a:pt x="302255" y="0"/>
                  </a:lnTo>
                  <a:lnTo>
                    <a:pt x="239386" y="167562"/>
                  </a:lnTo>
                  <a:close/>
                </a:path>
              </a:pathLst>
            </a:custGeom>
            <a:solidFill>
              <a:srgbClr val="5B9C2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0650" y="69850"/>
              <a:ext cx="1261787" cy="474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62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391039" y="6893552"/>
            <a:ext cx="7261924" cy="1791957"/>
            <a:chOff x="0" y="0"/>
            <a:chExt cx="1912606" cy="47195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12606" cy="471956"/>
            </a:xfrm>
            <a:custGeom>
              <a:avLst/>
              <a:gdLst/>
              <a:ahLst/>
              <a:cxnLst/>
              <a:rect l="l" t="t" r="r" b="b"/>
              <a:pathLst>
                <a:path w="1912606" h="471956">
                  <a:moveTo>
                    <a:pt x="54371" y="0"/>
                  </a:moveTo>
                  <a:lnTo>
                    <a:pt x="1858235" y="0"/>
                  </a:lnTo>
                  <a:cubicBezTo>
                    <a:pt x="1888263" y="0"/>
                    <a:pt x="1912606" y="24343"/>
                    <a:pt x="1912606" y="54371"/>
                  </a:cubicBezTo>
                  <a:lnTo>
                    <a:pt x="1912606" y="417585"/>
                  </a:lnTo>
                  <a:cubicBezTo>
                    <a:pt x="1912606" y="432005"/>
                    <a:pt x="1906877" y="445834"/>
                    <a:pt x="1896681" y="456031"/>
                  </a:cubicBezTo>
                  <a:cubicBezTo>
                    <a:pt x="1886484" y="466228"/>
                    <a:pt x="1872655" y="471956"/>
                    <a:pt x="1858235" y="471956"/>
                  </a:cubicBezTo>
                  <a:lnTo>
                    <a:pt x="54371" y="471956"/>
                  </a:lnTo>
                  <a:cubicBezTo>
                    <a:pt x="24343" y="471956"/>
                    <a:pt x="0" y="447613"/>
                    <a:pt x="0" y="417585"/>
                  </a:cubicBezTo>
                  <a:lnTo>
                    <a:pt x="0" y="54371"/>
                  </a:lnTo>
                  <a:cubicBezTo>
                    <a:pt x="0" y="24343"/>
                    <a:pt x="24343" y="0"/>
                    <a:pt x="54371" y="0"/>
                  </a:cubicBezTo>
                  <a:close/>
                </a:path>
              </a:pathLst>
            </a:custGeom>
            <a:solidFill>
              <a:srgbClr val="D8F4B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0"/>
              <a:ext cx="1912606" cy="567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6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877429" y="3025500"/>
            <a:ext cx="1412364" cy="1412364"/>
          </a:xfrm>
          <a:custGeom>
            <a:avLst/>
            <a:gdLst/>
            <a:ahLst/>
            <a:cxnLst/>
            <a:rect l="l" t="t" r="r" b="b"/>
            <a:pathLst>
              <a:path w="1412364" h="1412364">
                <a:moveTo>
                  <a:pt x="0" y="0"/>
                </a:moveTo>
                <a:lnTo>
                  <a:pt x="1412364" y="0"/>
                </a:lnTo>
                <a:lnTo>
                  <a:pt x="1412364" y="1412364"/>
                </a:lnTo>
                <a:lnTo>
                  <a:pt x="0" y="141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1" name="Freeform 21"/>
          <p:cNvSpPr/>
          <p:nvPr/>
        </p:nvSpPr>
        <p:spPr>
          <a:xfrm>
            <a:off x="11692782" y="2817344"/>
            <a:ext cx="1108972" cy="1108972"/>
          </a:xfrm>
          <a:custGeom>
            <a:avLst/>
            <a:gdLst/>
            <a:ahLst/>
            <a:cxnLst/>
            <a:rect l="l" t="t" r="r" b="b"/>
            <a:pathLst>
              <a:path w="1108972" h="1108972">
                <a:moveTo>
                  <a:pt x="0" y="0"/>
                </a:moveTo>
                <a:lnTo>
                  <a:pt x="1108973" y="0"/>
                </a:lnTo>
                <a:lnTo>
                  <a:pt x="1108973" y="1108973"/>
                </a:lnTo>
                <a:lnTo>
                  <a:pt x="0" y="11089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2" name="Freeform 22"/>
          <p:cNvSpPr/>
          <p:nvPr/>
        </p:nvSpPr>
        <p:spPr>
          <a:xfrm>
            <a:off x="6577652" y="3874468"/>
            <a:ext cx="1558994" cy="1558994"/>
          </a:xfrm>
          <a:custGeom>
            <a:avLst/>
            <a:gdLst/>
            <a:ahLst/>
            <a:cxnLst/>
            <a:rect l="l" t="t" r="r" b="b"/>
            <a:pathLst>
              <a:path w="1558994" h="1558994">
                <a:moveTo>
                  <a:pt x="0" y="0"/>
                </a:moveTo>
                <a:lnTo>
                  <a:pt x="1558995" y="0"/>
                </a:lnTo>
                <a:lnTo>
                  <a:pt x="1558995" y="1558995"/>
                </a:lnTo>
                <a:lnTo>
                  <a:pt x="0" y="15589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3" name="Freeform 23"/>
          <p:cNvSpPr/>
          <p:nvPr/>
        </p:nvSpPr>
        <p:spPr>
          <a:xfrm>
            <a:off x="15547168" y="1372891"/>
            <a:ext cx="1499967" cy="1499967"/>
          </a:xfrm>
          <a:custGeom>
            <a:avLst/>
            <a:gdLst/>
            <a:ahLst/>
            <a:cxnLst/>
            <a:rect l="l" t="t" r="r" b="b"/>
            <a:pathLst>
              <a:path w="1499967" h="1499967">
                <a:moveTo>
                  <a:pt x="0" y="0"/>
                </a:moveTo>
                <a:lnTo>
                  <a:pt x="1499967" y="0"/>
                </a:lnTo>
                <a:lnTo>
                  <a:pt x="1499967" y="1499966"/>
                </a:lnTo>
                <a:lnTo>
                  <a:pt x="0" y="14999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4" name="TextBox 24"/>
          <p:cNvSpPr txBox="1"/>
          <p:nvPr/>
        </p:nvSpPr>
        <p:spPr>
          <a:xfrm>
            <a:off x="1736184" y="653651"/>
            <a:ext cx="10421259" cy="902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 spc="15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HOW DOES IT WORK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183118" y="2277976"/>
            <a:ext cx="2379669" cy="385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7"/>
              </a:lnSpc>
            </a:pPr>
            <a:r>
              <a:rPr lang="en-US" sz="2499" b="1" dirty="0">
                <a:solidFill>
                  <a:srgbClr val="4169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ARKit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88184" y="2277976"/>
            <a:ext cx="3330047" cy="385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7"/>
              </a:lnSpc>
              <a:spcBef>
                <a:spcPct val="0"/>
              </a:spcBef>
            </a:pPr>
            <a:r>
              <a:rPr lang="en-US" sz="2499" b="1" u="none" strike="noStrike">
                <a:solidFill>
                  <a:srgbClr val="4169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Riconoscimento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801755" y="2277976"/>
            <a:ext cx="4089502" cy="385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7"/>
              </a:lnSpc>
              <a:spcBef>
                <a:spcPct val="0"/>
              </a:spcBef>
            </a:pPr>
            <a:r>
              <a:rPr lang="en-US" sz="2499" b="1" u="none" strike="noStrike">
                <a:solidFill>
                  <a:srgbClr val="4169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Valutazione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357149" y="2853807"/>
            <a:ext cx="4152644" cy="1095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09525" lvl="1" indent="-254762">
              <a:lnSpc>
                <a:spcPts val="2943"/>
              </a:lnSpc>
              <a:spcBef>
                <a:spcPct val="0"/>
              </a:spcBef>
              <a:buFont typeface="Arial"/>
              <a:buChar char="•"/>
            </a:pPr>
            <a:r>
              <a:rPr lang="it-IT" sz="2360" dirty="0">
                <a:solidFill>
                  <a:srgbClr val="000000"/>
                </a:solidFill>
                <a:latin typeface="Quicksand Light"/>
              </a:rPr>
              <a:t>the app </a:t>
            </a:r>
            <a:r>
              <a:rPr lang="it-IT" sz="2360" dirty="0" err="1">
                <a:solidFill>
                  <a:srgbClr val="000000"/>
                </a:solidFill>
                <a:latin typeface="Quicksand Light"/>
              </a:rPr>
              <a:t>searches</a:t>
            </a:r>
            <a:r>
              <a:rPr lang="it-IT" sz="2360" dirty="0">
                <a:solidFill>
                  <a:srgbClr val="000000"/>
                </a:solidFill>
                <a:latin typeface="Quicksand Light"/>
              </a:rPr>
              <a:t> for the </a:t>
            </a:r>
            <a:r>
              <a:rPr lang="it-IT" sz="2360" dirty="0" err="1">
                <a:solidFill>
                  <a:srgbClr val="000000"/>
                </a:solidFill>
                <a:latin typeface="Quicksand Light"/>
              </a:rPr>
              <a:t>corresponding</a:t>
            </a:r>
            <a:r>
              <a:rPr lang="it-IT" sz="2360" dirty="0">
                <a:solidFill>
                  <a:srgbClr val="000000"/>
                </a:solidFill>
                <a:latin typeface="Quicksand Light"/>
              </a:rPr>
              <a:t> product in </a:t>
            </a:r>
            <a:r>
              <a:rPr lang="it-IT" sz="2360" dirty="0" err="1">
                <a:solidFill>
                  <a:srgbClr val="000000"/>
                </a:solidFill>
                <a:latin typeface="Quicksand Light"/>
              </a:rPr>
              <a:t>its</a:t>
            </a:r>
            <a:r>
              <a:rPr lang="it-IT" sz="2360" dirty="0">
                <a:solidFill>
                  <a:srgbClr val="000000"/>
                </a:solidFill>
                <a:latin typeface="Quicksand Light"/>
              </a:rPr>
              <a:t> </a:t>
            </a:r>
            <a:r>
              <a:rPr lang="it-IT" sz="2360" dirty="0" err="1">
                <a:solidFill>
                  <a:srgbClr val="000000"/>
                </a:solidFill>
                <a:latin typeface="Quicksand Light"/>
              </a:rPr>
              <a:t>local</a:t>
            </a:r>
            <a:r>
              <a:rPr lang="it-IT" sz="2360" dirty="0">
                <a:solidFill>
                  <a:srgbClr val="000000"/>
                </a:solidFill>
                <a:latin typeface="Quicksand Light"/>
              </a:rPr>
              <a:t> database</a:t>
            </a:r>
            <a:endParaRPr lang="en-US" sz="2360" u="none" strike="noStrike" dirty="0">
              <a:solidFill>
                <a:srgbClr val="000000"/>
              </a:solidFill>
              <a:latin typeface="Quicksand Light"/>
              <a:ea typeface="Quicksand Light"/>
              <a:cs typeface="Quicksand Light"/>
              <a:sym typeface="Quicksand Light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2675303" y="2798294"/>
            <a:ext cx="4583997" cy="221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9525" lvl="1" indent="-254762">
              <a:lnSpc>
                <a:spcPts val="2943"/>
              </a:lnSpc>
              <a:spcBef>
                <a:spcPct val="0"/>
              </a:spcBef>
              <a:buFont typeface="Arial"/>
              <a:buChar char="•"/>
            </a:pPr>
            <a:r>
              <a:rPr lang="it-IT" sz="2360" dirty="0">
                <a:solidFill>
                  <a:srgbClr val="000000"/>
                </a:solidFill>
                <a:latin typeface="Quicksand Light"/>
              </a:rPr>
              <a:t>the system </a:t>
            </a:r>
            <a:r>
              <a:rPr lang="it-IT" sz="2360" dirty="0" err="1">
                <a:solidFill>
                  <a:srgbClr val="000000"/>
                </a:solidFill>
                <a:latin typeface="Quicksand Light"/>
              </a:rPr>
              <a:t>automatically</a:t>
            </a:r>
            <a:r>
              <a:rPr lang="it-IT" sz="2360" dirty="0">
                <a:solidFill>
                  <a:srgbClr val="000000"/>
                </a:solidFill>
                <a:latin typeface="Quicksand Light"/>
              </a:rPr>
              <a:t> </a:t>
            </a:r>
            <a:r>
              <a:rPr lang="it-IT" sz="2360" dirty="0" err="1">
                <a:solidFill>
                  <a:srgbClr val="000000"/>
                </a:solidFill>
                <a:latin typeface="Quicksand Light"/>
              </a:rPr>
              <a:t>compares</a:t>
            </a:r>
            <a:r>
              <a:rPr lang="it-IT" sz="2360" dirty="0">
                <a:solidFill>
                  <a:srgbClr val="000000"/>
                </a:solidFill>
                <a:latin typeface="Quicksand Light"/>
              </a:rPr>
              <a:t> the </a:t>
            </a:r>
            <a:r>
              <a:rPr lang="it-IT" sz="2360" dirty="0" err="1">
                <a:solidFill>
                  <a:srgbClr val="000000"/>
                </a:solidFill>
                <a:latin typeface="Quicksand Light"/>
              </a:rPr>
              <a:t>product’s</a:t>
            </a:r>
            <a:r>
              <a:rPr lang="it-IT" sz="2360" dirty="0">
                <a:solidFill>
                  <a:srgbClr val="000000"/>
                </a:solidFill>
                <a:latin typeface="Quicksand Light"/>
              </a:rPr>
              <a:t> </a:t>
            </a:r>
            <a:r>
              <a:rPr lang="it-IT" sz="2360" dirty="0" err="1">
                <a:solidFill>
                  <a:srgbClr val="000000"/>
                </a:solidFill>
                <a:latin typeface="Quicksand Light"/>
              </a:rPr>
              <a:t>allergens</a:t>
            </a:r>
            <a:r>
              <a:rPr lang="it-IT" sz="2360" dirty="0">
                <a:solidFill>
                  <a:srgbClr val="000000"/>
                </a:solidFill>
                <a:latin typeface="Quicksand Light"/>
              </a:rPr>
              <a:t>, </a:t>
            </a:r>
            <a:r>
              <a:rPr lang="it-IT" sz="2360" dirty="0" err="1">
                <a:solidFill>
                  <a:srgbClr val="000000"/>
                </a:solidFill>
                <a:latin typeface="Quicksand Light"/>
              </a:rPr>
              <a:t>traces</a:t>
            </a:r>
            <a:r>
              <a:rPr lang="it-IT" sz="2360" dirty="0">
                <a:solidFill>
                  <a:srgbClr val="000000"/>
                </a:solidFill>
                <a:latin typeface="Quicksand Light"/>
              </a:rPr>
              <a:t>, and </a:t>
            </a:r>
            <a:r>
              <a:rPr lang="it-IT" sz="2360" dirty="0" err="1">
                <a:solidFill>
                  <a:srgbClr val="000000"/>
                </a:solidFill>
                <a:latin typeface="Quicksand Light"/>
              </a:rPr>
              <a:t>dietary</a:t>
            </a:r>
            <a:r>
              <a:rPr lang="it-IT" sz="2360" dirty="0">
                <a:solidFill>
                  <a:srgbClr val="000000"/>
                </a:solidFill>
                <a:latin typeface="Quicksand Light"/>
              </a:rPr>
              <a:t> </a:t>
            </a:r>
            <a:r>
              <a:rPr lang="it-IT" sz="2360" dirty="0" err="1">
                <a:solidFill>
                  <a:srgbClr val="000000"/>
                </a:solidFill>
                <a:latin typeface="Quicksand Light"/>
              </a:rPr>
              <a:t>requirements</a:t>
            </a:r>
            <a:r>
              <a:rPr lang="it-IT" sz="2360" dirty="0">
                <a:solidFill>
                  <a:srgbClr val="000000"/>
                </a:solidFill>
                <a:latin typeface="Quicksand Light"/>
              </a:rPr>
              <a:t> with the </a:t>
            </a:r>
            <a:r>
              <a:rPr lang="it-IT" sz="2360" dirty="0" err="1">
                <a:solidFill>
                  <a:srgbClr val="000000"/>
                </a:solidFill>
                <a:latin typeface="Quicksand Light"/>
              </a:rPr>
              <a:t>user’s</a:t>
            </a:r>
            <a:r>
              <a:rPr lang="it-IT" sz="2360" dirty="0">
                <a:solidFill>
                  <a:srgbClr val="000000"/>
                </a:solidFill>
                <a:latin typeface="Quicksand Light"/>
              </a:rPr>
              <a:t> </a:t>
            </a:r>
            <a:r>
              <a:rPr lang="it-IT" sz="2360" dirty="0" err="1">
                <a:solidFill>
                  <a:srgbClr val="000000"/>
                </a:solidFill>
                <a:latin typeface="Quicksand Light"/>
              </a:rPr>
              <a:t>configured</a:t>
            </a:r>
            <a:r>
              <a:rPr lang="it-IT" sz="2360" dirty="0">
                <a:solidFill>
                  <a:srgbClr val="000000"/>
                </a:solidFill>
                <a:latin typeface="Quicksand Light"/>
              </a:rPr>
              <a:t> </a:t>
            </a:r>
            <a:r>
              <a:rPr lang="it-IT" sz="2360" dirty="0" err="1">
                <a:solidFill>
                  <a:srgbClr val="000000"/>
                </a:solidFill>
                <a:latin typeface="Quicksand Light"/>
              </a:rPr>
              <a:t>preferences</a:t>
            </a:r>
            <a:r>
              <a:rPr lang="it-IT" sz="2360" dirty="0">
                <a:solidFill>
                  <a:srgbClr val="000000"/>
                </a:solidFill>
                <a:latin typeface="Quicksand Light"/>
              </a:rPr>
              <a:t>, and </a:t>
            </a:r>
            <a:r>
              <a:rPr lang="it-IT" sz="2360" dirty="0" err="1">
                <a:solidFill>
                  <a:srgbClr val="000000"/>
                </a:solidFill>
                <a:latin typeface="Quicksand Light"/>
              </a:rPr>
              <a:t>computes</a:t>
            </a:r>
            <a:r>
              <a:rPr lang="it-IT" sz="2360" dirty="0">
                <a:solidFill>
                  <a:srgbClr val="000000"/>
                </a:solidFill>
                <a:latin typeface="Quicksand Light"/>
              </a:rPr>
              <a:t> a </a:t>
            </a:r>
            <a:r>
              <a:rPr lang="it-IT" sz="2360" dirty="0" err="1">
                <a:solidFill>
                  <a:srgbClr val="000000"/>
                </a:solidFill>
                <a:latin typeface="Quicksand Light"/>
              </a:rPr>
              <a:t>safety</a:t>
            </a:r>
            <a:r>
              <a:rPr lang="it-IT" sz="2360" dirty="0">
                <a:solidFill>
                  <a:srgbClr val="000000"/>
                </a:solidFill>
                <a:latin typeface="Quicksand Light"/>
              </a:rPr>
              <a:t> state</a:t>
            </a:r>
            <a:endParaRPr lang="en-US" sz="2360" u="none" strike="noStrike" dirty="0">
              <a:solidFill>
                <a:srgbClr val="000000"/>
              </a:solidFill>
              <a:latin typeface="Quicksand Light"/>
              <a:ea typeface="Quicksand Light"/>
              <a:cs typeface="Quicksand Light"/>
              <a:sym typeface="Quicksand Light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12843800" y="5142660"/>
            <a:ext cx="4247003" cy="2535409"/>
            <a:chOff x="0" y="0"/>
            <a:chExt cx="5662670" cy="3380547"/>
          </a:xfrm>
        </p:grpSpPr>
        <p:grpSp>
          <p:nvGrpSpPr>
            <p:cNvPr id="31" name="Group 31"/>
            <p:cNvGrpSpPr/>
            <p:nvPr/>
          </p:nvGrpSpPr>
          <p:grpSpPr>
            <a:xfrm rot="5400000">
              <a:off x="1441057" y="680283"/>
              <a:ext cx="2795640" cy="1435074"/>
              <a:chOff x="0" y="0"/>
              <a:chExt cx="1382437" cy="709641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382437" cy="709641"/>
              </a:xfrm>
              <a:custGeom>
                <a:avLst/>
                <a:gdLst/>
                <a:ahLst/>
                <a:cxnLst/>
                <a:rect l="l" t="t" r="r" b="b"/>
                <a:pathLst>
                  <a:path w="1382437" h="709641">
                    <a:moveTo>
                      <a:pt x="239386" y="167562"/>
                    </a:moveTo>
                    <a:lnTo>
                      <a:pt x="1382437" y="167562"/>
                    </a:lnTo>
                    <a:lnTo>
                      <a:pt x="1382437" y="542006"/>
                    </a:lnTo>
                    <a:lnTo>
                      <a:pt x="239373" y="542006"/>
                    </a:lnTo>
                    <a:lnTo>
                      <a:pt x="302255" y="709641"/>
                    </a:lnTo>
                    <a:lnTo>
                      <a:pt x="0" y="354820"/>
                    </a:lnTo>
                    <a:lnTo>
                      <a:pt x="302255" y="0"/>
                    </a:lnTo>
                    <a:lnTo>
                      <a:pt x="239386" y="167562"/>
                    </a:lnTo>
                    <a:close/>
                  </a:path>
                </a:pathLst>
              </a:custGeom>
              <a:solidFill>
                <a:srgbClr val="5B9C2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20650" y="69850"/>
                <a:ext cx="1261787" cy="4746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62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0" y="538946"/>
              <a:ext cx="5662670" cy="2841601"/>
              <a:chOff x="0" y="-95250"/>
              <a:chExt cx="1118552" cy="56130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118552" cy="466053"/>
              </a:xfrm>
              <a:custGeom>
                <a:avLst/>
                <a:gdLst/>
                <a:ahLst/>
                <a:cxnLst/>
                <a:rect l="l" t="t" r="r" b="b"/>
                <a:pathLst>
                  <a:path w="1118552" h="350516">
                    <a:moveTo>
                      <a:pt x="92969" y="0"/>
                    </a:moveTo>
                    <a:lnTo>
                      <a:pt x="1025584" y="0"/>
                    </a:lnTo>
                    <a:cubicBezTo>
                      <a:pt x="1050240" y="0"/>
                      <a:pt x="1073887" y="9795"/>
                      <a:pt x="1091322" y="27230"/>
                    </a:cubicBezTo>
                    <a:cubicBezTo>
                      <a:pt x="1108757" y="44665"/>
                      <a:pt x="1118552" y="68312"/>
                      <a:pt x="1118552" y="92969"/>
                    </a:cubicBezTo>
                    <a:lnTo>
                      <a:pt x="1118552" y="257548"/>
                    </a:lnTo>
                    <a:cubicBezTo>
                      <a:pt x="1118552" y="282205"/>
                      <a:pt x="1108757" y="305852"/>
                      <a:pt x="1091322" y="323287"/>
                    </a:cubicBezTo>
                    <a:cubicBezTo>
                      <a:pt x="1073887" y="340722"/>
                      <a:pt x="1050240" y="350516"/>
                      <a:pt x="1025584" y="350516"/>
                    </a:cubicBezTo>
                    <a:lnTo>
                      <a:pt x="92969" y="350516"/>
                    </a:lnTo>
                    <a:cubicBezTo>
                      <a:pt x="41623" y="350516"/>
                      <a:pt x="0" y="308893"/>
                      <a:pt x="0" y="257548"/>
                    </a:cubicBezTo>
                    <a:lnTo>
                      <a:pt x="0" y="92969"/>
                    </a:lnTo>
                    <a:cubicBezTo>
                      <a:pt x="0" y="68312"/>
                      <a:pt x="9795" y="44665"/>
                      <a:pt x="27230" y="27230"/>
                    </a:cubicBezTo>
                    <a:cubicBezTo>
                      <a:pt x="44665" y="9795"/>
                      <a:pt x="68312" y="0"/>
                      <a:pt x="92969" y="0"/>
                    </a:cubicBezTo>
                    <a:close/>
                  </a:path>
                </a:pathLst>
              </a:custGeom>
              <a:solidFill>
                <a:srgbClr val="D8F4BE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95250"/>
                <a:ext cx="1118552" cy="445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562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548319" y="1393925"/>
              <a:ext cx="4566031" cy="1563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117"/>
                </a:lnSpc>
                <a:spcBef>
                  <a:spcPct val="0"/>
                </a:spcBef>
              </a:pPr>
              <a:r>
                <a:rPr lang="it-IT" sz="2499" b="1" dirty="0">
                  <a:solidFill>
                    <a:srgbClr val="41691E"/>
                  </a:solidFill>
                  <a:latin typeface="Alexandria Bold"/>
                  <a:cs typeface="Alexandria Bold"/>
                </a:rPr>
                <a:t>the system leverages the </a:t>
              </a:r>
              <a:r>
                <a:rPr lang="it-IT" sz="2499" b="1" dirty="0" err="1">
                  <a:solidFill>
                    <a:srgbClr val="41691E"/>
                  </a:solidFill>
                  <a:latin typeface="Alexandria Bold"/>
                  <a:cs typeface="Alexandria Bold"/>
                </a:rPr>
                <a:t>user’s</a:t>
              </a:r>
              <a:r>
                <a:rPr lang="it-IT" sz="2499" b="1" dirty="0">
                  <a:solidFill>
                    <a:srgbClr val="41691E"/>
                  </a:solidFill>
                  <a:latin typeface="Alexandria Bold"/>
                  <a:cs typeface="Alexandria Bold"/>
                </a:rPr>
                <a:t> </a:t>
              </a:r>
              <a:r>
                <a:rPr lang="it-IT" sz="2499" b="1" dirty="0" err="1">
                  <a:solidFill>
                    <a:srgbClr val="41691E"/>
                  </a:solidFill>
                  <a:latin typeface="Alexandria Bold"/>
                  <a:cs typeface="Alexandria Bold"/>
                </a:rPr>
                <a:t>configured</a:t>
              </a:r>
              <a:r>
                <a:rPr lang="it-IT" sz="2499" b="1" dirty="0">
                  <a:solidFill>
                    <a:srgbClr val="41691E"/>
                  </a:solidFill>
                  <a:latin typeface="Alexandria Bold"/>
                  <a:cs typeface="Alexandria Bold"/>
                </a:rPr>
                <a:t> </a:t>
              </a:r>
              <a:r>
                <a:rPr lang="it-IT" sz="2499" b="1" dirty="0" err="1">
                  <a:solidFill>
                    <a:srgbClr val="41691E"/>
                  </a:solidFill>
                  <a:latin typeface="Alexandria Bold"/>
                  <a:cs typeface="Alexandria Bold"/>
                </a:rPr>
                <a:t>profile</a:t>
              </a:r>
              <a:endParaRPr lang="en-US" sz="2499" b="1" dirty="0">
                <a:solidFill>
                  <a:srgbClr val="41691E"/>
                </a:solidFill>
                <a:latin typeface="Alexandria Bold"/>
                <a:cs typeface="Alexandria Bold"/>
                <a:sym typeface="Alexandria Bold"/>
              </a:endParaRP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3352800" y="7220340"/>
            <a:ext cx="7128327" cy="1095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09525" lvl="1" indent="-254762">
              <a:lnSpc>
                <a:spcPts val="2943"/>
              </a:lnSpc>
              <a:spcBef>
                <a:spcPct val="0"/>
              </a:spcBef>
              <a:buFont typeface="Arial"/>
              <a:buChar char="•"/>
            </a:pPr>
            <a:r>
              <a:rPr lang="it-IT" sz="2360" dirty="0">
                <a:solidFill>
                  <a:srgbClr val="000000"/>
                </a:solidFill>
                <a:latin typeface="Quicksand Light"/>
              </a:rPr>
              <a:t>the </a:t>
            </a:r>
            <a:r>
              <a:rPr lang="it-IT" sz="2360" dirty="0" err="1">
                <a:solidFill>
                  <a:srgbClr val="000000"/>
                </a:solidFill>
                <a:latin typeface="Quicksand Light"/>
              </a:rPr>
              <a:t>result</a:t>
            </a:r>
            <a:r>
              <a:rPr lang="it-IT" sz="2360" dirty="0">
                <a:solidFill>
                  <a:srgbClr val="000000"/>
                </a:solidFill>
                <a:latin typeface="Quicksand Light"/>
              </a:rPr>
              <a:t> </a:t>
            </a:r>
            <a:r>
              <a:rPr lang="it-IT" sz="2360" dirty="0" err="1">
                <a:solidFill>
                  <a:srgbClr val="000000"/>
                </a:solidFill>
                <a:latin typeface="Quicksand Light"/>
              </a:rPr>
              <a:t>is</a:t>
            </a:r>
            <a:r>
              <a:rPr lang="it-IT" sz="2360" dirty="0">
                <a:solidFill>
                  <a:srgbClr val="000000"/>
                </a:solidFill>
                <a:latin typeface="Quicksand Light"/>
              </a:rPr>
              <a:t> </a:t>
            </a:r>
            <a:r>
              <a:rPr lang="it-IT" sz="2360" dirty="0" err="1">
                <a:solidFill>
                  <a:srgbClr val="000000"/>
                </a:solidFill>
                <a:latin typeface="Quicksand Light"/>
              </a:rPr>
              <a:t>communicated</a:t>
            </a:r>
            <a:r>
              <a:rPr lang="it-IT" sz="2360" dirty="0">
                <a:solidFill>
                  <a:srgbClr val="000000"/>
                </a:solidFill>
                <a:latin typeface="Quicksand Light"/>
              </a:rPr>
              <a:t> </a:t>
            </a:r>
            <a:r>
              <a:rPr lang="it-IT" sz="2360" dirty="0" err="1">
                <a:solidFill>
                  <a:srgbClr val="000000"/>
                </a:solidFill>
                <a:latin typeface="Quicksand Light"/>
              </a:rPr>
              <a:t>instantly</a:t>
            </a:r>
            <a:r>
              <a:rPr lang="it-IT" sz="2360" dirty="0">
                <a:solidFill>
                  <a:srgbClr val="000000"/>
                </a:solidFill>
                <a:latin typeface="Quicksand Light"/>
              </a:rPr>
              <a:t> </a:t>
            </a:r>
            <a:r>
              <a:rPr lang="it-IT" sz="2360" dirty="0" err="1">
                <a:solidFill>
                  <a:srgbClr val="000000"/>
                </a:solidFill>
                <a:latin typeface="Quicksand Light"/>
              </a:rPr>
              <a:t>through</a:t>
            </a:r>
            <a:r>
              <a:rPr lang="it-IT" sz="2360" dirty="0">
                <a:solidFill>
                  <a:srgbClr val="000000"/>
                </a:solidFill>
                <a:latin typeface="Quicksand Light"/>
              </a:rPr>
              <a:t> the AR card </a:t>
            </a:r>
            <a:r>
              <a:rPr lang="it-IT" sz="2360" dirty="0" err="1">
                <a:solidFill>
                  <a:srgbClr val="000000"/>
                </a:solidFill>
                <a:latin typeface="Quicksand Light"/>
              </a:rPr>
              <a:t>anchored</a:t>
            </a:r>
            <a:r>
              <a:rPr lang="it-IT" sz="2360" dirty="0">
                <a:solidFill>
                  <a:srgbClr val="000000"/>
                </a:solidFill>
                <a:latin typeface="Quicksand Light"/>
              </a:rPr>
              <a:t> to the </a:t>
            </a:r>
            <a:r>
              <a:rPr lang="it-IT" sz="2360" dirty="0" err="1">
                <a:solidFill>
                  <a:srgbClr val="000000"/>
                </a:solidFill>
                <a:latin typeface="Quicksand Light"/>
              </a:rPr>
              <a:t>object</a:t>
            </a:r>
            <a:r>
              <a:rPr lang="it-IT" sz="2360" dirty="0">
                <a:solidFill>
                  <a:srgbClr val="000000"/>
                </a:solidFill>
                <a:latin typeface="Quicksand Light"/>
              </a:rPr>
              <a:t>, </a:t>
            </a:r>
            <a:r>
              <a:rPr lang="it-IT" sz="2360" dirty="0" err="1">
                <a:solidFill>
                  <a:srgbClr val="000000"/>
                </a:solidFill>
                <a:latin typeface="Quicksand Light"/>
              </a:rPr>
              <a:t>accompanied</a:t>
            </a:r>
            <a:r>
              <a:rPr lang="it-IT" sz="2360" dirty="0">
                <a:solidFill>
                  <a:srgbClr val="000000"/>
                </a:solidFill>
                <a:latin typeface="Quicksand Light"/>
              </a:rPr>
              <a:t> by a sound and a </a:t>
            </a:r>
            <a:r>
              <a:rPr lang="it-IT" sz="2360" dirty="0" err="1">
                <a:solidFill>
                  <a:srgbClr val="000000"/>
                </a:solidFill>
                <a:latin typeface="Quicksand Light"/>
              </a:rPr>
              <a:t>haptic</a:t>
            </a:r>
            <a:r>
              <a:rPr lang="it-IT" sz="2360" dirty="0">
                <a:solidFill>
                  <a:srgbClr val="000000"/>
                </a:solidFill>
                <a:latin typeface="Quicksand Light"/>
              </a:rPr>
              <a:t> feedback</a:t>
            </a:r>
            <a:endParaRPr lang="en-US" sz="2360" dirty="0">
              <a:solidFill>
                <a:srgbClr val="000000"/>
              </a:solidFill>
              <a:latin typeface="Quicksand Light"/>
              <a:sym typeface="Quicksand Light"/>
            </a:endParaRPr>
          </a:p>
        </p:txBody>
      </p:sp>
      <p:grpSp>
        <p:nvGrpSpPr>
          <p:cNvPr id="39" name="Group 39"/>
          <p:cNvGrpSpPr/>
          <p:nvPr/>
        </p:nvGrpSpPr>
        <p:grpSpPr>
          <a:xfrm>
            <a:off x="1420845" y="7360540"/>
            <a:ext cx="2542434" cy="1076306"/>
            <a:chOff x="0" y="0"/>
            <a:chExt cx="3389913" cy="1435074"/>
          </a:xfrm>
        </p:grpSpPr>
        <p:grpSp>
          <p:nvGrpSpPr>
            <p:cNvPr id="40" name="Group 40"/>
            <p:cNvGrpSpPr/>
            <p:nvPr/>
          </p:nvGrpSpPr>
          <p:grpSpPr>
            <a:xfrm rot="-10800000">
              <a:off x="0" y="0"/>
              <a:ext cx="2795640" cy="1435074"/>
              <a:chOff x="0" y="0"/>
              <a:chExt cx="1382437" cy="709641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382437" cy="709641"/>
              </a:xfrm>
              <a:custGeom>
                <a:avLst/>
                <a:gdLst/>
                <a:ahLst/>
                <a:cxnLst/>
                <a:rect l="l" t="t" r="r" b="b"/>
                <a:pathLst>
                  <a:path w="1382437" h="709641">
                    <a:moveTo>
                      <a:pt x="239386" y="167562"/>
                    </a:moveTo>
                    <a:lnTo>
                      <a:pt x="1382437" y="167562"/>
                    </a:lnTo>
                    <a:lnTo>
                      <a:pt x="1382437" y="542006"/>
                    </a:lnTo>
                    <a:lnTo>
                      <a:pt x="239373" y="542006"/>
                    </a:lnTo>
                    <a:lnTo>
                      <a:pt x="302255" y="709641"/>
                    </a:lnTo>
                    <a:lnTo>
                      <a:pt x="0" y="354820"/>
                    </a:lnTo>
                    <a:lnTo>
                      <a:pt x="302255" y="0"/>
                    </a:lnTo>
                    <a:lnTo>
                      <a:pt x="239386" y="167562"/>
                    </a:lnTo>
                    <a:close/>
                  </a:path>
                </a:pathLst>
              </a:custGeom>
              <a:solidFill>
                <a:srgbClr val="5B9C2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20650" y="69850"/>
                <a:ext cx="1261787" cy="4746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562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217021" y="448126"/>
              <a:ext cx="3172891" cy="5197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17"/>
                </a:lnSpc>
              </a:pPr>
              <a:r>
                <a:rPr lang="en-US" sz="2499" b="1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Output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2209800" y="9243076"/>
            <a:ext cx="15020601" cy="320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744"/>
              </a:lnSpc>
              <a:spcBef>
                <a:spcPct val="0"/>
              </a:spcBef>
            </a:pPr>
            <a:r>
              <a:rPr lang="it-IT" sz="1960" spc="5" dirty="0">
                <a:solidFill>
                  <a:srgbClr val="6A6968"/>
                </a:solidFill>
                <a:latin typeface="Quicksand"/>
              </a:rPr>
              <a:t>The </a:t>
            </a:r>
            <a:r>
              <a:rPr lang="it-IT" sz="1960" spc="5" dirty="0" err="1">
                <a:solidFill>
                  <a:srgbClr val="6A6968"/>
                </a:solidFill>
                <a:latin typeface="Quicksand"/>
              </a:rPr>
              <a:t>entire</a:t>
            </a:r>
            <a:r>
              <a:rPr lang="it-IT" sz="1960" spc="5" dirty="0">
                <a:solidFill>
                  <a:srgbClr val="6A6968"/>
                </a:solidFill>
                <a:latin typeface="Quicksand"/>
              </a:rPr>
              <a:t> pipeline </a:t>
            </a:r>
            <a:r>
              <a:rPr lang="it-IT" sz="1960" spc="5" dirty="0" err="1">
                <a:solidFill>
                  <a:srgbClr val="6A6968"/>
                </a:solidFill>
                <a:latin typeface="Quicksand"/>
              </a:rPr>
              <a:t>runs</a:t>
            </a:r>
            <a:r>
              <a:rPr lang="it-IT" sz="1960" spc="5" dirty="0">
                <a:solidFill>
                  <a:srgbClr val="6A6968"/>
                </a:solidFill>
                <a:latin typeface="Quicksand"/>
              </a:rPr>
              <a:t> on‑device, with no calls to </a:t>
            </a:r>
            <a:r>
              <a:rPr lang="it-IT" sz="1960" spc="5" dirty="0" err="1">
                <a:solidFill>
                  <a:srgbClr val="6A6968"/>
                </a:solidFill>
                <a:latin typeface="Quicksand"/>
              </a:rPr>
              <a:t>external</a:t>
            </a:r>
            <a:r>
              <a:rPr lang="it-IT" sz="1960" spc="5" dirty="0">
                <a:solidFill>
                  <a:srgbClr val="6A6968"/>
                </a:solidFill>
                <a:latin typeface="Quicksand"/>
              </a:rPr>
              <a:t> servers: zero </a:t>
            </a:r>
            <a:r>
              <a:rPr lang="it-IT" sz="1960" spc="5" dirty="0" err="1">
                <a:solidFill>
                  <a:srgbClr val="6A6968"/>
                </a:solidFill>
                <a:latin typeface="Quicksand"/>
              </a:rPr>
              <a:t>latency</a:t>
            </a:r>
            <a:r>
              <a:rPr lang="it-IT" sz="1960" spc="5" dirty="0">
                <a:solidFill>
                  <a:srgbClr val="6A6968"/>
                </a:solidFill>
                <a:latin typeface="Quicksand"/>
              </a:rPr>
              <a:t>, zero </a:t>
            </a:r>
            <a:r>
              <a:rPr lang="it-IT" sz="1960" spc="5" dirty="0" err="1">
                <a:solidFill>
                  <a:srgbClr val="6A6968"/>
                </a:solidFill>
                <a:latin typeface="Quicksand"/>
              </a:rPr>
              <a:t>dependence</a:t>
            </a:r>
            <a:r>
              <a:rPr lang="it-IT" sz="1960" spc="5" dirty="0">
                <a:solidFill>
                  <a:srgbClr val="6A6968"/>
                </a:solidFill>
                <a:latin typeface="Quicksand"/>
              </a:rPr>
              <a:t> on </a:t>
            </a:r>
            <a:r>
              <a:rPr lang="it-IT" sz="1960" spc="5" dirty="0" err="1">
                <a:solidFill>
                  <a:srgbClr val="6A6968"/>
                </a:solidFill>
                <a:latin typeface="Quicksand"/>
              </a:rPr>
              <a:t>connectivity</a:t>
            </a:r>
            <a:r>
              <a:rPr lang="it-IT" sz="1960" spc="5" dirty="0">
                <a:solidFill>
                  <a:srgbClr val="6A6968"/>
                </a:solidFill>
                <a:latin typeface="Quicksand"/>
              </a:rPr>
              <a:t>. </a:t>
            </a:r>
            <a:endParaRPr lang="en-US" sz="1960" spc="5" dirty="0">
              <a:solidFill>
                <a:srgbClr val="6A6968"/>
              </a:solidFill>
              <a:latin typeface="Quicksand"/>
              <a:sym typeface="Quicksa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047135" y="159928"/>
            <a:ext cx="984896" cy="984896"/>
          </a:xfrm>
          <a:custGeom>
            <a:avLst/>
            <a:gdLst/>
            <a:ahLst/>
            <a:cxnLst/>
            <a:rect l="l" t="t" r="r" b="b"/>
            <a:pathLst>
              <a:path w="984896" h="984896">
                <a:moveTo>
                  <a:pt x="0" y="0"/>
                </a:moveTo>
                <a:lnTo>
                  <a:pt x="984896" y="0"/>
                </a:lnTo>
                <a:lnTo>
                  <a:pt x="984896" y="984896"/>
                </a:lnTo>
                <a:lnTo>
                  <a:pt x="0" y="9848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1480469" y="3235904"/>
            <a:ext cx="5298256" cy="3964996"/>
            <a:chOff x="0" y="0"/>
            <a:chExt cx="6503725" cy="45988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503750" cy="4598755"/>
            </a:xfrm>
            <a:custGeom>
              <a:avLst/>
              <a:gdLst/>
              <a:ahLst/>
              <a:cxnLst/>
              <a:rect l="l" t="t" r="r" b="b"/>
              <a:pathLst>
                <a:path w="6503750" h="4598755">
                  <a:moveTo>
                    <a:pt x="0" y="461841"/>
                  </a:moveTo>
                  <a:cubicBezTo>
                    <a:pt x="0" y="206699"/>
                    <a:pt x="162141" y="0"/>
                    <a:pt x="362281" y="0"/>
                  </a:cubicBezTo>
                  <a:lnTo>
                    <a:pt x="6141471" y="0"/>
                  </a:lnTo>
                  <a:cubicBezTo>
                    <a:pt x="6341611" y="0"/>
                    <a:pt x="6503750" y="206699"/>
                    <a:pt x="6503750" y="461841"/>
                  </a:cubicBezTo>
                  <a:lnTo>
                    <a:pt x="6503750" y="4136915"/>
                  </a:lnTo>
                  <a:cubicBezTo>
                    <a:pt x="6503750" y="4392056"/>
                    <a:pt x="6341611" y="4598755"/>
                    <a:pt x="6141471" y="4598755"/>
                  </a:cubicBezTo>
                  <a:lnTo>
                    <a:pt x="362281" y="4598755"/>
                  </a:lnTo>
                  <a:cubicBezTo>
                    <a:pt x="162141" y="4598909"/>
                    <a:pt x="0" y="4392056"/>
                    <a:pt x="0" y="4136915"/>
                  </a:cubicBezTo>
                  <a:lnTo>
                    <a:pt x="0" y="461841"/>
                  </a:lnTo>
                  <a:close/>
                </a:path>
              </a:pathLst>
            </a:custGeom>
            <a:solidFill>
              <a:srgbClr val="D8F4B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336472" y="5358130"/>
            <a:ext cx="5298256" cy="3290570"/>
            <a:chOff x="0" y="0"/>
            <a:chExt cx="6503725" cy="459885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503750" cy="4598755"/>
            </a:xfrm>
            <a:custGeom>
              <a:avLst/>
              <a:gdLst/>
              <a:ahLst/>
              <a:cxnLst/>
              <a:rect l="l" t="t" r="r" b="b"/>
              <a:pathLst>
                <a:path w="6503750" h="4598755">
                  <a:moveTo>
                    <a:pt x="0" y="461841"/>
                  </a:moveTo>
                  <a:cubicBezTo>
                    <a:pt x="0" y="206699"/>
                    <a:pt x="162141" y="0"/>
                    <a:pt x="362281" y="0"/>
                  </a:cubicBezTo>
                  <a:lnTo>
                    <a:pt x="6141471" y="0"/>
                  </a:lnTo>
                  <a:cubicBezTo>
                    <a:pt x="6341611" y="0"/>
                    <a:pt x="6503750" y="206699"/>
                    <a:pt x="6503750" y="461841"/>
                  </a:cubicBezTo>
                  <a:lnTo>
                    <a:pt x="6503750" y="4136915"/>
                  </a:lnTo>
                  <a:cubicBezTo>
                    <a:pt x="6503750" y="4392056"/>
                    <a:pt x="6341611" y="4598755"/>
                    <a:pt x="6141471" y="4598755"/>
                  </a:cubicBezTo>
                  <a:lnTo>
                    <a:pt x="362281" y="4598755"/>
                  </a:lnTo>
                  <a:cubicBezTo>
                    <a:pt x="162141" y="4598909"/>
                    <a:pt x="0" y="4392056"/>
                    <a:pt x="0" y="4136915"/>
                  </a:cubicBezTo>
                  <a:lnTo>
                    <a:pt x="0" y="461841"/>
                  </a:lnTo>
                  <a:close/>
                </a:path>
              </a:pathLst>
            </a:custGeom>
            <a:solidFill>
              <a:srgbClr val="D8F4B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736184" y="653651"/>
            <a:ext cx="10753254" cy="902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 spc="15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FOOD COMPARISON</a:t>
            </a:r>
          </a:p>
        </p:txBody>
      </p:sp>
      <p:pic>
        <p:nvPicPr>
          <p:cNvPr id="8" name="Picture 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37833" t="10468" r="38055" b="39"/>
          <a:stretch>
            <a:fillRect/>
          </a:stretch>
        </p:blipFill>
        <p:spPr>
          <a:xfrm>
            <a:off x="7471322" y="2368026"/>
            <a:ext cx="3172554" cy="6623629"/>
          </a:xfrm>
          <a:prstGeom prst="roundRect">
            <a:avLst>
              <a:gd name="adj" fmla="val 12526"/>
            </a:avLst>
          </a:prstGeom>
          <a:ln>
            <a:noFill/>
          </a:ln>
          <a:effectLst>
            <a:innerShdw blurRad="114300" dist="50800">
              <a:srgbClr val="000000">
                <a:alpha val="0"/>
              </a:srgbClr>
            </a:innerShdw>
          </a:effectLst>
        </p:spPr>
      </p:pic>
      <p:sp>
        <p:nvSpPr>
          <p:cNvPr id="9" name="Freeform 9"/>
          <p:cNvSpPr/>
          <p:nvPr/>
        </p:nvSpPr>
        <p:spPr>
          <a:xfrm>
            <a:off x="7376182" y="2109588"/>
            <a:ext cx="3382818" cy="7295270"/>
          </a:xfrm>
          <a:custGeom>
            <a:avLst/>
            <a:gdLst/>
            <a:ahLst/>
            <a:cxnLst/>
            <a:rect l="l" t="t" r="r" b="b"/>
            <a:pathLst>
              <a:path w="3382818" h="7295270">
                <a:moveTo>
                  <a:pt x="0" y="0"/>
                </a:moveTo>
                <a:lnTo>
                  <a:pt x="3382818" y="0"/>
                </a:lnTo>
                <a:lnTo>
                  <a:pt x="3382818" y="7295270"/>
                </a:lnTo>
                <a:lnTo>
                  <a:pt x="0" y="72952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8548" r="-127908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3828322" y="1832610"/>
            <a:ext cx="14383478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59"/>
              </a:lnSpc>
              <a:spcBef>
                <a:spcPct val="0"/>
              </a:spcBef>
            </a:pPr>
            <a:r>
              <a:rPr lang="en-US" sz="2400" spc="7" dirty="0">
                <a:solidFill>
                  <a:srgbClr val="000000"/>
                </a:solidFill>
                <a:latin typeface="Quicksand"/>
                <a:sym typeface="Quicksand"/>
              </a:rPr>
              <a:t>-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extends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beyond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individual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products,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enabling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a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direct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comparison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between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two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food items</a:t>
            </a:r>
            <a:endParaRPr lang="en-US" sz="2400" spc="7" dirty="0">
              <a:solidFill>
                <a:srgbClr val="000000"/>
              </a:solidFill>
              <a:latin typeface="Quicksand"/>
              <a:sym typeface="Quicksan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085456" y="1797664"/>
            <a:ext cx="1678558" cy="412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spc="7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Nutri</a:t>
            </a:r>
            <a:r>
              <a:rPr lang="en-US" sz="2499" b="1" spc="7">
                <a:solidFill>
                  <a:srgbClr val="4169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Lens</a:t>
            </a:r>
            <a:r>
              <a:rPr lang="en-US" sz="2499" spc="7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60255" y="3491858"/>
            <a:ext cx="4616745" cy="3452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3359"/>
              </a:lnSpc>
              <a:spcBef>
                <a:spcPct val="0"/>
              </a:spcBef>
            </a:pPr>
            <a:r>
              <a:rPr lang="it-IT" sz="2400" spc="7" dirty="0">
                <a:solidFill>
                  <a:srgbClr val="000000"/>
                </a:solidFill>
                <a:latin typeface="Quicksand"/>
              </a:rPr>
              <a:t>The app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generates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b="1" spc="7" dirty="0" err="1">
                <a:solidFill>
                  <a:srgbClr val="41691E"/>
                </a:solidFill>
                <a:latin typeface="Quicksand Bold"/>
              </a:rPr>
              <a:t>two</a:t>
            </a:r>
            <a:r>
              <a:rPr lang="it-IT" sz="2400" b="1" spc="7" dirty="0">
                <a:solidFill>
                  <a:srgbClr val="41691E"/>
                </a:solidFill>
                <a:latin typeface="Quicksand Bold"/>
              </a:rPr>
              <a:t> side‑by‑side AR cards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.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If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either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product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contains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allergens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,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traces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, or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does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not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meet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the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user’s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dietary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requirements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,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it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is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immediately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‘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rejected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’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visually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,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guiding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the user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toward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the safe alternative</a:t>
            </a:r>
            <a:r>
              <a:rPr lang="en-US" sz="2400" spc="7" dirty="0">
                <a:solidFill>
                  <a:srgbClr val="000000"/>
                </a:solidFill>
                <a:latin typeface="Quicksand"/>
                <a:sym typeface="Quicksand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43455" y="5654373"/>
            <a:ext cx="4884290" cy="2580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ts val="3359"/>
              </a:lnSpc>
              <a:spcBef>
                <a:spcPct val="0"/>
              </a:spcBef>
            </a:pP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If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both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products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satisfy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the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user’s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constraints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, the app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activates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a Nutri‑Score–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based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comparison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algorithm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. An </a:t>
            </a:r>
            <a:r>
              <a:rPr lang="it-IT" sz="2400" b="1" spc="7" dirty="0">
                <a:solidFill>
                  <a:srgbClr val="41691E"/>
                </a:solidFill>
                <a:latin typeface="Quicksand Bold"/>
              </a:rPr>
              <a:t>intuitive </a:t>
            </a:r>
            <a:r>
              <a:rPr lang="it-IT" sz="2400" b="1" spc="7" dirty="0" err="1">
                <a:solidFill>
                  <a:srgbClr val="41691E"/>
                </a:solidFill>
                <a:latin typeface="Quicksand Bold"/>
              </a:rPr>
              <a:t>graphical</a:t>
            </a:r>
            <a:r>
              <a:rPr lang="it-IT" sz="2400" b="1" spc="7" dirty="0">
                <a:solidFill>
                  <a:srgbClr val="41691E"/>
                </a:solidFill>
                <a:latin typeface="Quicksand Bold"/>
              </a:rPr>
              <a:t> </a:t>
            </a:r>
            <a:r>
              <a:rPr lang="it-IT" sz="2400" b="1" spc="7" dirty="0" err="1">
                <a:solidFill>
                  <a:srgbClr val="41691E"/>
                </a:solidFill>
                <a:latin typeface="Quicksand Bold"/>
              </a:rPr>
              <a:t>indicator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highlights the item with the superior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nutritional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profile</a:t>
            </a:r>
            <a:r>
              <a:rPr lang="en-US" sz="2400" spc="7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174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047135" y="159928"/>
            <a:ext cx="984896" cy="984896"/>
          </a:xfrm>
          <a:custGeom>
            <a:avLst/>
            <a:gdLst/>
            <a:ahLst/>
            <a:cxnLst/>
            <a:rect l="l" t="t" r="r" b="b"/>
            <a:pathLst>
              <a:path w="984896" h="984896">
                <a:moveTo>
                  <a:pt x="0" y="0"/>
                </a:moveTo>
                <a:lnTo>
                  <a:pt x="984896" y="0"/>
                </a:lnTo>
                <a:lnTo>
                  <a:pt x="984896" y="984896"/>
                </a:lnTo>
                <a:lnTo>
                  <a:pt x="0" y="9848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1736184" y="653651"/>
            <a:ext cx="10753254" cy="902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 spc="15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PROFILE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828322" y="1832610"/>
            <a:ext cx="14383478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59"/>
              </a:lnSpc>
              <a:spcBef>
                <a:spcPct val="0"/>
              </a:spcBef>
            </a:pPr>
            <a:r>
              <a:rPr lang="en-US" sz="2400" spc="7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- </a:t>
            </a:r>
            <a:r>
              <a:rPr lang="en-US" sz="2400" spc="7" dirty="0" err="1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i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t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also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includes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a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dedicated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user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section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,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offering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two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distinct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yet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complementary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functions</a:t>
            </a:r>
            <a:endParaRPr lang="en-US" sz="2400" spc="7" dirty="0">
              <a:solidFill>
                <a:srgbClr val="000000"/>
              </a:solidFill>
              <a:latin typeface="Quicksand"/>
              <a:sym typeface="Quicksan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085456" y="1797664"/>
            <a:ext cx="1678558" cy="412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spc="7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Nutri</a:t>
            </a:r>
            <a:r>
              <a:rPr lang="en-US" sz="2499" b="1" spc="7">
                <a:solidFill>
                  <a:srgbClr val="4169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Lens</a:t>
            </a:r>
            <a:r>
              <a:rPr lang="en-US" sz="2499" spc="7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480469" y="3235904"/>
            <a:ext cx="5298256" cy="3507796"/>
            <a:chOff x="0" y="0"/>
            <a:chExt cx="6503725" cy="459885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503750" cy="4598755"/>
            </a:xfrm>
            <a:custGeom>
              <a:avLst/>
              <a:gdLst/>
              <a:ahLst/>
              <a:cxnLst/>
              <a:rect l="l" t="t" r="r" b="b"/>
              <a:pathLst>
                <a:path w="6503750" h="4598755">
                  <a:moveTo>
                    <a:pt x="0" y="461841"/>
                  </a:moveTo>
                  <a:cubicBezTo>
                    <a:pt x="0" y="206699"/>
                    <a:pt x="162141" y="0"/>
                    <a:pt x="362281" y="0"/>
                  </a:cubicBezTo>
                  <a:lnTo>
                    <a:pt x="6141471" y="0"/>
                  </a:lnTo>
                  <a:cubicBezTo>
                    <a:pt x="6341611" y="0"/>
                    <a:pt x="6503750" y="206699"/>
                    <a:pt x="6503750" y="461841"/>
                  </a:cubicBezTo>
                  <a:lnTo>
                    <a:pt x="6503750" y="4136915"/>
                  </a:lnTo>
                  <a:cubicBezTo>
                    <a:pt x="6503750" y="4392056"/>
                    <a:pt x="6341611" y="4598755"/>
                    <a:pt x="6141471" y="4598755"/>
                  </a:cubicBezTo>
                  <a:lnTo>
                    <a:pt x="362281" y="4598755"/>
                  </a:lnTo>
                  <a:cubicBezTo>
                    <a:pt x="162141" y="4598909"/>
                    <a:pt x="0" y="4392056"/>
                    <a:pt x="0" y="4136915"/>
                  </a:cubicBezTo>
                  <a:lnTo>
                    <a:pt x="0" y="461841"/>
                  </a:lnTo>
                  <a:close/>
                </a:path>
              </a:pathLst>
            </a:custGeom>
            <a:solidFill>
              <a:srgbClr val="D8F4B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36184" y="4233968"/>
            <a:ext cx="4824255" cy="2150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ts val="3359"/>
              </a:lnSpc>
              <a:spcBef>
                <a:spcPct val="0"/>
              </a:spcBef>
            </a:pPr>
            <a:r>
              <a:rPr lang="en-US" sz="2400" spc="7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he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profile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is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set once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but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can be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modified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at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any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time;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it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is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designed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for users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who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later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discover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a new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intolerance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or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simply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change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their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diet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.</a:t>
            </a:r>
            <a:endParaRPr lang="en-US" sz="2400" spc="7" dirty="0">
              <a:solidFill>
                <a:srgbClr val="000000"/>
              </a:solidFill>
              <a:latin typeface="Quicksand"/>
              <a:sym typeface="Quicksand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1336472" y="5358130"/>
            <a:ext cx="5298256" cy="3290570"/>
            <a:chOff x="0" y="0"/>
            <a:chExt cx="6503725" cy="459885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503750" cy="4598755"/>
            </a:xfrm>
            <a:custGeom>
              <a:avLst/>
              <a:gdLst/>
              <a:ahLst/>
              <a:cxnLst/>
              <a:rect l="l" t="t" r="r" b="b"/>
              <a:pathLst>
                <a:path w="6503750" h="4598755">
                  <a:moveTo>
                    <a:pt x="0" y="461841"/>
                  </a:moveTo>
                  <a:cubicBezTo>
                    <a:pt x="0" y="206699"/>
                    <a:pt x="162141" y="0"/>
                    <a:pt x="362281" y="0"/>
                  </a:cubicBezTo>
                  <a:lnTo>
                    <a:pt x="6141471" y="0"/>
                  </a:lnTo>
                  <a:cubicBezTo>
                    <a:pt x="6341611" y="0"/>
                    <a:pt x="6503750" y="206699"/>
                    <a:pt x="6503750" y="461841"/>
                  </a:cubicBezTo>
                  <a:lnTo>
                    <a:pt x="6503750" y="4136915"/>
                  </a:lnTo>
                  <a:cubicBezTo>
                    <a:pt x="6503750" y="4392056"/>
                    <a:pt x="6341611" y="4598755"/>
                    <a:pt x="6141471" y="4598755"/>
                  </a:cubicBezTo>
                  <a:lnTo>
                    <a:pt x="362281" y="4598755"/>
                  </a:lnTo>
                  <a:cubicBezTo>
                    <a:pt x="162141" y="4598909"/>
                    <a:pt x="0" y="4392056"/>
                    <a:pt x="0" y="4136915"/>
                  </a:cubicBezTo>
                  <a:lnTo>
                    <a:pt x="0" y="461841"/>
                  </a:lnTo>
                  <a:close/>
                </a:path>
              </a:pathLst>
            </a:custGeom>
            <a:solidFill>
              <a:srgbClr val="D8F4B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362162" y="3576271"/>
            <a:ext cx="1534870" cy="385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7"/>
              </a:lnSpc>
              <a:spcBef>
                <a:spcPct val="0"/>
              </a:spcBef>
            </a:pPr>
            <a:r>
              <a:rPr lang="en-US" sz="2499" b="1" u="none" strike="noStrike" dirty="0">
                <a:solidFill>
                  <a:srgbClr val="4169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PROFILE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813128" y="5885198"/>
            <a:ext cx="2503071" cy="3773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17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4169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CHRONOLOGY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43455" y="6517915"/>
            <a:ext cx="4884290" cy="1708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ts val="3359"/>
              </a:lnSpc>
              <a:spcBef>
                <a:spcPct val="0"/>
              </a:spcBef>
            </a:pPr>
            <a:r>
              <a:rPr lang="en-US" sz="2400" spc="7" dirty="0">
                <a:solidFill>
                  <a:srgbClr val="000000"/>
                </a:solidFill>
                <a:latin typeface="Quicksand"/>
                <a:sym typeface="Quicksand"/>
              </a:rPr>
              <a:t>E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very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scanned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product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is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saved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automatically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and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treated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like a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collectible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card, </a:t>
            </a:r>
            <a:r>
              <a:rPr lang="it-IT" sz="2400" spc="7" dirty="0" err="1">
                <a:solidFill>
                  <a:srgbClr val="000000"/>
                </a:solidFill>
                <a:latin typeface="Quicksand"/>
              </a:rPr>
              <a:t>viewable</a:t>
            </a:r>
            <a:r>
              <a:rPr lang="it-IT" sz="2400" spc="7" dirty="0">
                <a:solidFill>
                  <a:srgbClr val="000000"/>
                </a:solidFill>
                <a:latin typeface="Quicksand"/>
              </a:rPr>
              <a:t> inside a 3D Augmented Reality album</a:t>
            </a:r>
            <a:r>
              <a:rPr lang="en-US" sz="2400" spc="7" dirty="0">
                <a:solidFill>
                  <a:srgbClr val="000000"/>
                </a:solidFill>
                <a:latin typeface="Quicksand"/>
                <a:sym typeface="Quicksand"/>
              </a:rPr>
              <a:t>.</a:t>
            </a:r>
          </a:p>
        </p:txBody>
      </p:sp>
      <p:pic>
        <p:nvPicPr>
          <p:cNvPr id="14" name="Picture 1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37355" t="5669" r="37613"/>
          <a:stretch>
            <a:fillRect/>
          </a:stretch>
        </p:blipFill>
        <p:spPr>
          <a:xfrm>
            <a:off x="7485667" y="2410515"/>
            <a:ext cx="3112136" cy="6597032"/>
          </a:xfrm>
          <a:prstGeom prst="roundRect">
            <a:avLst>
              <a:gd name="adj" fmla="val 13627"/>
            </a:avLst>
          </a:prstGeom>
          <a:ln>
            <a:noFill/>
          </a:ln>
          <a:effectLst>
            <a:innerShdw blurRad="114300" dist="50800">
              <a:srgbClr val="000000">
                <a:alpha val="0"/>
              </a:srgbClr>
            </a:innerShdw>
          </a:effectLst>
        </p:spPr>
      </p:pic>
      <p:sp>
        <p:nvSpPr>
          <p:cNvPr id="15" name="Freeform 15"/>
          <p:cNvSpPr/>
          <p:nvPr/>
        </p:nvSpPr>
        <p:spPr>
          <a:xfrm>
            <a:off x="7380935" y="2119914"/>
            <a:ext cx="3353328" cy="7284944"/>
          </a:xfrm>
          <a:custGeom>
            <a:avLst/>
            <a:gdLst/>
            <a:ahLst/>
            <a:cxnLst/>
            <a:rect l="l" t="t" r="r" b="b"/>
            <a:pathLst>
              <a:path w="3353328" h="7284944">
                <a:moveTo>
                  <a:pt x="0" y="0"/>
                </a:moveTo>
                <a:lnTo>
                  <a:pt x="3353328" y="0"/>
                </a:lnTo>
                <a:lnTo>
                  <a:pt x="3353328" y="7284944"/>
                </a:lnTo>
                <a:lnTo>
                  <a:pt x="0" y="72849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9495" r="-129587"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929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028700" y="2566837"/>
            <a:ext cx="5153326" cy="5153326"/>
          </a:xfrm>
          <a:custGeom>
            <a:avLst/>
            <a:gdLst/>
            <a:ahLst/>
            <a:cxnLst/>
            <a:rect l="l" t="t" r="r" b="b"/>
            <a:pathLst>
              <a:path w="5153326" h="5153326">
                <a:moveTo>
                  <a:pt x="0" y="0"/>
                </a:moveTo>
                <a:lnTo>
                  <a:pt x="5153326" y="0"/>
                </a:lnTo>
                <a:lnTo>
                  <a:pt x="5153326" y="5153326"/>
                </a:lnTo>
                <a:lnTo>
                  <a:pt x="0" y="51533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160BD60-9479-4A29-0733-EC84C2B43C99}"/>
              </a:ext>
            </a:extLst>
          </p:cNvPr>
          <p:cNvSpPr txBox="1"/>
          <p:nvPr/>
        </p:nvSpPr>
        <p:spPr>
          <a:xfrm>
            <a:off x="7133938" y="4305300"/>
            <a:ext cx="994407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500" b="1" spc="22" dirty="0">
                <a:solidFill>
                  <a:srgbClr val="000000"/>
                </a:solidFill>
                <a:latin typeface="Alexandria Bold"/>
                <a:cs typeface="Alexandria Bold"/>
              </a:rPr>
              <a:t>Thank you for </a:t>
            </a:r>
            <a:r>
              <a:rPr lang="en-GB" sz="7500" b="1" spc="22" dirty="0">
                <a:latin typeface="Alexandria Bold"/>
                <a:cs typeface="Alexandria Bold"/>
              </a:rPr>
              <a:t>y</a:t>
            </a:r>
            <a:r>
              <a:rPr lang="en-GB" sz="7500" b="1" spc="22" dirty="0">
                <a:solidFill>
                  <a:srgbClr val="5B9C20"/>
                </a:solidFill>
                <a:latin typeface="Alexandria Bold"/>
                <a:cs typeface="Alexandria Bold"/>
              </a:rPr>
              <a:t>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591</Words>
  <Application>Microsoft Macintosh PowerPoint</Application>
  <PresentationFormat>Personalizzato</PresentationFormat>
  <Paragraphs>60</Paragraphs>
  <Slides>8</Slides>
  <Notes>0</Notes>
  <HiddenSlides>0</HiddenSlides>
  <MMClips>3</MMClips>
  <ScaleCrop>false</ScaleCrop>
  <HeadingPairs>
    <vt:vector size="6" baseType="variant">
      <vt:variant>
        <vt:lpstr>Caratteri utilizzati</vt:lpstr>
      </vt:variant>
      <vt:variant>
        <vt:i4>11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20" baseType="lpstr">
      <vt:lpstr>Poppins Bold</vt:lpstr>
      <vt:lpstr>Quicksand Light</vt:lpstr>
      <vt:lpstr>Quicksand Bold</vt:lpstr>
      <vt:lpstr>Quicksand</vt:lpstr>
      <vt:lpstr>Alexandria</vt:lpstr>
      <vt:lpstr>Alexandria Bold</vt:lpstr>
      <vt:lpstr>Norwester</vt:lpstr>
      <vt:lpstr>Arial</vt:lpstr>
      <vt:lpstr>Nunito Bold</vt:lpstr>
      <vt:lpstr>Calibri</vt:lpstr>
      <vt:lpstr>Open Sauce Bold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Application Development A.Y. 2025-2026</dc:title>
  <cp:lastModifiedBy>Valentina Debbia</cp:lastModifiedBy>
  <cp:revision>5</cp:revision>
  <dcterms:created xsi:type="dcterms:W3CDTF">2006-08-16T00:00:00Z</dcterms:created>
  <dcterms:modified xsi:type="dcterms:W3CDTF">2026-09-14T09:03:17Z</dcterms:modified>
  <dc:identifier>DAHHNJfm_aU</dc:identifier>
</cp:coreProperties>
</file>